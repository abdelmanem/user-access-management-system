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20"/>
  </p:notesMasterIdLst>
  <p:handoutMasterIdLst>
    <p:handoutMasterId r:id="rId21"/>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AMS - PCI &amp; RHG Security Compliance" id="{43743AC0-F341-4660-9AE9-27C353B18477}">
          <p14:sldIdLst>
            <p14:sldId id="2561"/>
          </p14:sldIdLst>
        </p14:section>
        <p14:section name="Introduction to UAMS and Compliance" id="{21864284-7729-414E-835E-50D72502FF8F}">
          <p14:sldIdLst>
            <p14:sldId id="2562"/>
            <p14:sldId id="2563"/>
            <p14:sldId id="2564"/>
          </p14:sldIdLst>
        </p14:section>
        <p14:section name="Audit Requirements and Compliance" id="{11CC5BBE-C95F-46D3-A0E0-63E43ACB1A7F}">
          <p14:sldIdLst>
            <p14:sldId id="2565"/>
            <p14:sldId id="2566"/>
          </p14:sldIdLst>
        </p14:section>
        <p14:section name="Detailed Requirements" id="{3A210B4E-61AF-4389-8667-2E690F2A6276}">
          <p14:sldIdLst>
            <p14:sldId id="2567"/>
            <p14:sldId id="2568"/>
            <p14:sldId id="2569"/>
          </p14:sldIdLst>
        </p14:section>
        <p14:section name="Key Features and Benefits" id="{DCADB338-84A9-428A-9478-ED6D0CD8EA3C}">
          <p14:sldIdLst>
            <p14:sldId id="2570"/>
            <p14:sldId id="2571"/>
            <p14:sldId id="2572"/>
          </p14:sldIdLst>
        </p14:section>
        <p14:section name="Implementation and Next Steps" id="{141FDABA-079D-4B34-BE8C-7D0887F863D9}">
          <p14:sldIdLst>
            <p14:sldId id="2573"/>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7244D-9DE8-4D53-BF12-698366AE883E}" v="14" dt="2025-12-07T15:00:09.480"/>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94469"/>
  </p:normalViewPr>
  <p:slideViewPr>
    <p:cSldViewPr snapToGrid="0">
      <p:cViewPr>
        <p:scale>
          <a:sx n="100" d="100"/>
          <a:sy n="100" d="100"/>
        </p:scale>
        <p:origin x="-269" y="-538"/>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diagrams/_rels/data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ata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D54423-768B-4E38-AD83-6CE3D84C08B7}"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AF450417-45EF-41EC-938D-9DD411570AE9}">
      <dgm:prSet/>
      <dgm:spPr/>
      <dgm:t>
        <a:bodyPr/>
        <a:lstStyle/>
        <a:p>
          <a:pPr>
            <a:lnSpc>
              <a:spcPct val="100000"/>
            </a:lnSpc>
            <a:defRPr b="1"/>
          </a:pPr>
          <a:r>
            <a:rPr lang="en-US"/>
            <a:t>Centralized Compliance Tracking</a:t>
          </a:r>
        </a:p>
      </dgm:t>
    </dgm:pt>
    <dgm:pt modelId="{73CC2255-B3C8-45F0-806E-3A4FDB48334D}" type="parTrans" cxnId="{D6FAB9A3-D895-4E96-8F8B-FAE6C59BE5B2}">
      <dgm:prSet/>
      <dgm:spPr/>
      <dgm:t>
        <a:bodyPr/>
        <a:lstStyle/>
        <a:p>
          <a:endParaRPr lang="en-US"/>
        </a:p>
      </dgm:t>
    </dgm:pt>
    <dgm:pt modelId="{F4920279-F6DF-4AC8-90C4-71A6A6267003}" type="sibTrans" cxnId="{D6FAB9A3-D895-4E96-8F8B-FAE6C59BE5B2}">
      <dgm:prSet/>
      <dgm:spPr/>
      <dgm:t>
        <a:bodyPr/>
        <a:lstStyle/>
        <a:p>
          <a:pPr>
            <a:lnSpc>
              <a:spcPct val="100000"/>
            </a:lnSpc>
            <a:defRPr b="1"/>
          </a:pPr>
          <a:endParaRPr lang="en-US"/>
        </a:p>
      </dgm:t>
    </dgm:pt>
    <dgm:pt modelId="{4801B3C7-4F85-45E4-BC6A-C036FEFFDF21}">
      <dgm:prSet/>
      <dgm:spPr/>
      <dgm:t>
        <a:bodyPr/>
        <a:lstStyle/>
        <a:p>
          <a:pPr>
            <a:lnSpc>
              <a:spcPct val="100000"/>
            </a:lnSpc>
          </a:pPr>
          <a:r>
            <a:rPr lang="en-US"/>
            <a:t>UAMS provides centralized tracking and documentation for compliance across systems like Active Directory, PMS, and POS.</a:t>
          </a:r>
        </a:p>
      </dgm:t>
    </dgm:pt>
    <dgm:pt modelId="{C74990B8-EB7B-40CB-8D51-44738BCBA474}" type="parTrans" cxnId="{BB20B1F8-390E-488B-A5B6-A072C63F8480}">
      <dgm:prSet/>
      <dgm:spPr/>
      <dgm:t>
        <a:bodyPr/>
        <a:lstStyle/>
        <a:p>
          <a:endParaRPr lang="en-US"/>
        </a:p>
      </dgm:t>
    </dgm:pt>
    <dgm:pt modelId="{A4B86134-0DA8-4FF6-87FA-8710DFBB6D3E}" type="sibTrans" cxnId="{BB20B1F8-390E-488B-A5B6-A072C63F8480}">
      <dgm:prSet/>
      <dgm:spPr/>
      <dgm:t>
        <a:bodyPr/>
        <a:lstStyle/>
        <a:p>
          <a:endParaRPr lang="en-US"/>
        </a:p>
      </dgm:t>
    </dgm:pt>
    <dgm:pt modelId="{B2174B90-11DC-45A7-97C1-F9E37AC8CFCF}">
      <dgm:prSet/>
      <dgm:spPr/>
      <dgm:t>
        <a:bodyPr/>
        <a:lstStyle/>
        <a:p>
          <a:pPr>
            <a:lnSpc>
              <a:spcPct val="100000"/>
            </a:lnSpc>
            <a:defRPr b="1"/>
          </a:pPr>
          <a:r>
            <a:rPr lang="en-US"/>
            <a:t>Audit Evidence Documentation</a:t>
          </a:r>
        </a:p>
      </dgm:t>
    </dgm:pt>
    <dgm:pt modelId="{D01B8FAA-8078-4A1A-8485-E748BEC773A9}" type="parTrans" cxnId="{2384FECC-B3B6-4A66-B2A1-7D7E849F04C0}">
      <dgm:prSet/>
      <dgm:spPr/>
      <dgm:t>
        <a:bodyPr/>
        <a:lstStyle/>
        <a:p>
          <a:endParaRPr lang="en-US"/>
        </a:p>
      </dgm:t>
    </dgm:pt>
    <dgm:pt modelId="{49D78333-1896-4CF9-B9A7-41FC6312CE9D}" type="sibTrans" cxnId="{2384FECC-B3B6-4A66-B2A1-7D7E849F04C0}">
      <dgm:prSet/>
      <dgm:spPr/>
      <dgm:t>
        <a:bodyPr/>
        <a:lstStyle/>
        <a:p>
          <a:pPr>
            <a:lnSpc>
              <a:spcPct val="100000"/>
            </a:lnSpc>
            <a:defRPr b="1"/>
          </a:pPr>
          <a:endParaRPr lang="en-US"/>
        </a:p>
      </dgm:t>
    </dgm:pt>
    <dgm:pt modelId="{0E5388FA-D6F4-4314-B918-86D5308FD5FA}">
      <dgm:prSet/>
      <dgm:spPr/>
      <dgm:t>
        <a:bodyPr/>
        <a:lstStyle/>
        <a:p>
          <a:pPr>
            <a:lnSpc>
              <a:spcPct val="100000"/>
            </a:lnSpc>
          </a:pPr>
          <a:r>
            <a:rPr lang="en-US"/>
            <a:t>The system documents user account activities and generates reports to demonstrate adherence to security policies for audits.</a:t>
          </a:r>
        </a:p>
      </dgm:t>
    </dgm:pt>
    <dgm:pt modelId="{03245033-306E-4B38-86AD-0C635258C2EA}" type="parTrans" cxnId="{00417421-1783-4349-9407-571DA63CDD67}">
      <dgm:prSet/>
      <dgm:spPr/>
      <dgm:t>
        <a:bodyPr/>
        <a:lstStyle/>
        <a:p>
          <a:endParaRPr lang="en-US"/>
        </a:p>
      </dgm:t>
    </dgm:pt>
    <dgm:pt modelId="{105A2954-9F3E-4FFD-864B-8306435F8D69}" type="sibTrans" cxnId="{00417421-1783-4349-9407-571DA63CDD67}">
      <dgm:prSet/>
      <dgm:spPr/>
      <dgm:t>
        <a:bodyPr/>
        <a:lstStyle/>
        <a:p>
          <a:endParaRPr lang="en-US"/>
        </a:p>
      </dgm:t>
    </dgm:pt>
    <dgm:pt modelId="{58116A49-5404-480D-9AD9-06FBF52AD212}">
      <dgm:prSet/>
      <dgm:spPr/>
      <dgm:t>
        <a:bodyPr/>
        <a:lstStyle/>
        <a:p>
          <a:pPr>
            <a:lnSpc>
              <a:spcPct val="100000"/>
            </a:lnSpc>
            <a:defRPr b="1"/>
          </a:pPr>
          <a:r>
            <a:rPr lang="en-US"/>
            <a:t>Compliance with Security Standards</a:t>
          </a:r>
        </a:p>
      </dgm:t>
    </dgm:pt>
    <dgm:pt modelId="{EBD15560-3E23-4A99-A3F2-8DF17B4F34CC}" type="parTrans" cxnId="{DB415A8A-98F6-41B1-ACC4-FA6663D6C258}">
      <dgm:prSet/>
      <dgm:spPr/>
      <dgm:t>
        <a:bodyPr/>
        <a:lstStyle/>
        <a:p>
          <a:endParaRPr lang="en-US"/>
        </a:p>
      </dgm:t>
    </dgm:pt>
    <dgm:pt modelId="{E85D7621-A129-4BFE-A638-519C8C03042A}" type="sibTrans" cxnId="{DB415A8A-98F6-41B1-ACC4-FA6663D6C258}">
      <dgm:prSet/>
      <dgm:spPr/>
      <dgm:t>
        <a:bodyPr/>
        <a:lstStyle/>
        <a:p>
          <a:endParaRPr lang="en-US"/>
        </a:p>
      </dgm:t>
    </dgm:pt>
    <dgm:pt modelId="{970397EC-D5A9-4829-8743-A8E3D2C9F858}">
      <dgm:prSet/>
      <dgm:spPr/>
      <dgm:t>
        <a:bodyPr/>
        <a:lstStyle/>
        <a:p>
          <a:pPr>
            <a:lnSpc>
              <a:spcPct val="100000"/>
            </a:lnSpc>
          </a:pPr>
          <a:r>
            <a:rPr lang="en-US"/>
            <a:t>UAMS supports compliance with standards like PCI and RHG by reducing manual effort and enhancing process transparency.</a:t>
          </a:r>
        </a:p>
      </dgm:t>
    </dgm:pt>
    <dgm:pt modelId="{664CC029-E7AF-4D59-80F2-7B75ECF7F1FD}" type="parTrans" cxnId="{04808F50-3642-417C-89FA-650DC4EFCB16}">
      <dgm:prSet/>
      <dgm:spPr/>
      <dgm:t>
        <a:bodyPr/>
        <a:lstStyle/>
        <a:p>
          <a:endParaRPr lang="en-US"/>
        </a:p>
      </dgm:t>
    </dgm:pt>
    <dgm:pt modelId="{355D381D-77F8-4666-B5CD-57193447E2BA}" type="sibTrans" cxnId="{04808F50-3642-417C-89FA-650DC4EFCB16}">
      <dgm:prSet/>
      <dgm:spPr/>
      <dgm:t>
        <a:bodyPr/>
        <a:lstStyle/>
        <a:p>
          <a:endParaRPr lang="en-US"/>
        </a:p>
      </dgm:t>
    </dgm:pt>
    <dgm:pt modelId="{17304F8F-179E-47FC-A8DB-085D6593184E}" type="pres">
      <dgm:prSet presAssocID="{5CD54423-768B-4E38-AD83-6CE3D84C08B7}" presName="Root" presStyleCnt="0">
        <dgm:presLayoutVars>
          <dgm:dir/>
          <dgm:resizeHandles val="exact"/>
        </dgm:presLayoutVars>
      </dgm:prSet>
      <dgm:spPr/>
    </dgm:pt>
    <dgm:pt modelId="{DA81A331-F618-4FA8-85E9-C05F722B98EA}" type="pres">
      <dgm:prSet presAssocID="{AF450417-45EF-41EC-938D-9DD411570AE9}" presName="Composite" presStyleCnt="0"/>
      <dgm:spPr/>
    </dgm:pt>
    <dgm:pt modelId="{486E4B88-0FD8-4304-BB3A-BC97E7CDE180}" type="pres">
      <dgm:prSet presAssocID="{AF450417-45EF-41EC-938D-9DD411570AE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0498" r="26754" b="4"/>
          <a:stretch/>
        </a:blipFill>
      </dgm:spPr>
      <dgm:extLst>
        <a:ext uri="{E40237B7-FDA0-4F09-8148-C483321AD2D9}">
          <dgm14:cNvPr xmlns:dgm14="http://schemas.microsoft.com/office/drawing/2010/diagram" id="0" name="" descr="A computer futuristic digital program hud interface with a personal control system over a network, in which the computer uses the interface to interact with the user."/>
        </a:ext>
      </dgm:extLst>
    </dgm:pt>
    <dgm:pt modelId="{572256B4-6277-4FD6-AEA1-39DAD6C31944}" type="pres">
      <dgm:prSet presAssocID="{AF450417-45EF-41EC-938D-9DD411570AE9}" presName="Subtitle" presStyleLbl="revTx" presStyleIdx="0" presStyleCnt="6">
        <dgm:presLayoutVars>
          <dgm:chMax val="0"/>
          <dgm:bulletEnabled/>
        </dgm:presLayoutVars>
      </dgm:prSet>
      <dgm:spPr/>
    </dgm:pt>
    <dgm:pt modelId="{3126BE34-CD6C-44C1-9F33-664657D3F1C6}" type="pres">
      <dgm:prSet presAssocID="{AF450417-45EF-41EC-938D-9DD411570AE9}" presName="Description" presStyleLbl="revTx" presStyleIdx="1" presStyleCnt="6">
        <dgm:presLayoutVars>
          <dgm:bulletEnabled/>
        </dgm:presLayoutVars>
      </dgm:prSet>
      <dgm:spPr/>
    </dgm:pt>
    <dgm:pt modelId="{CC7A36EF-3574-4771-B40C-5421DB79FC05}" type="pres">
      <dgm:prSet presAssocID="{F4920279-F6DF-4AC8-90C4-71A6A6267003}" presName="sibTrans" presStyleLbl="sibTrans2D1" presStyleIdx="0" presStyleCnt="0"/>
      <dgm:spPr/>
    </dgm:pt>
    <dgm:pt modelId="{35FB73B2-2D4E-4271-B341-47DE6F0B3F50}" type="pres">
      <dgm:prSet presAssocID="{B2174B90-11DC-45A7-97C1-F9E37AC8CFCF}" presName="Composite" presStyleCnt="0"/>
      <dgm:spPr/>
    </dgm:pt>
    <dgm:pt modelId="{1EA04258-B0C9-4C99-BBF3-80C05BEEA922}" type="pres">
      <dgm:prSet presAssocID="{B2174B90-11DC-45A7-97C1-F9E37AC8CFC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496" r="14750" b="-6"/>
          <a:stretch/>
        </a:blipFill>
      </dgm:spPr>
      <dgm:extLst>
        <a:ext uri="{E40237B7-FDA0-4F09-8148-C483321AD2D9}">
          <dgm14:cNvPr xmlns:dgm14="http://schemas.microsoft.com/office/drawing/2010/diagram" id="0" name="" descr="&quot;COMPLIANCE&quot;key,notebook,tablet on isolated background"/>
        </a:ext>
      </dgm:extLst>
    </dgm:pt>
    <dgm:pt modelId="{BB68281A-E791-4C76-AC74-3118F32FC89C}" type="pres">
      <dgm:prSet presAssocID="{B2174B90-11DC-45A7-97C1-F9E37AC8CFCF}" presName="Subtitle" presStyleLbl="revTx" presStyleIdx="2" presStyleCnt="6">
        <dgm:presLayoutVars>
          <dgm:chMax val="0"/>
          <dgm:bulletEnabled/>
        </dgm:presLayoutVars>
      </dgm:prSet>
      <dgm:spPr/>
    </dgm:pt>
    <dgm:pt modelId="{06B44516-128F-4299-A229-E78234278F1B}" type="pres">
      <dgm:prSet presAssocID="{B2174B90-11DC-45A7-97C1-F9E37AC8CFCF}" presName="Description" presStyleLbl="revTx" presStyleIdx="3" presStyleCnt="6">
        <dgm:presLayoutVars>
          <dgm:bulletEnabled/>
        </dgm:presLayoutVars>
      </dgm:prSet>
      <dgm:spPr/>
    </dgm:pt>
    <dgm:pt modelId="{BA37C40D-F0E1-4E64-B1D1-4BA1B22DF419}" type="pres">
      <dgm:prSet presAssocID="{49D78333-1896-4CF9-B9A7-41FC6312CE9D}" presName="sibTrans" presStyleLbl="sibTrans2D1" presStyleIdx="0" presStyleCnt="0"/>
      <dgm:spPr/>
    </dgm:pt>
    <dgm:pt modelId="{3393BF62-5318-4CD3-AC66-404A38AED7DB}" type="pres">
      <dgm:prSet presAssocID="{58116A49-5404-480D-9AD9-06FBF52AD212}" presName="Composite" presStyleCnt="0"/>
      <dgm:spPr/>
    </dgm:pt>
    <dgm:pt modelId="{931DA998-2FAD-4E9B-B0BA-194357FF7B3F}" type="pres">
      <dgm:prSet presAssocID="{58116A49-5404-480D-9AD9-06FBF52AD21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908" r="23090" b="-3"/>
          <a:stretch/>
        </a:blipFill>
      </dgm:spPr>
      <dgm:extLst>
        <a:ext uri="{E40237B7-FDA0-4F09-8148-C483321AD2D9}">
          <dgm14:cNvPr xmlns:dgm14="http://schemas.microsoft.com/office/drawing/2010/diagram" id="0" name="" descr="Abstract  Digital concept which shows network security optimization and internet technology  "/>
        </a:ext>
      </dgm:extLst>
    </dgm:pt>
    <dgm:pt modelId="{9914AD4D-E06A-401F-8FA8-C4EEA311B248}" type="pres">
      <dgm:prSet presAssocID="{58116A49-5404-480D-9AD9-06FBF52AD212}" presName="Subtitle" presStyleLbl="revTx" presStyleIdx="4" presStyleCnt="6">
        <dgm:presLayoutVars>
          <dgm:chMax val="0"/>
          <dgm:bulletEnabled/>
        </dgm:presLayoutVars>
      </dgm:prSet>
      <dgm:spPr/>
    </dgm:pt>
    <dgm:pt modelId="{B715BE81-1D25-4B8F-AAD3-3441322CE9E3}" type="pres">
      <dgm:prSet presAssocID="{58116A49-5404-480D-9AD9-06FBF52AD212}" presName="Description" presStyleLbl="revTx" presStyleIdx="5" presStyleCnt="6">
        <dgm:presLayoutVars>
          <dgm:bulletEnabled/>
        </dgm:presLayoutVars>
      </dgm:prSet>
      <dgm:spPr/>
    </dgm:pt>
  </dgm:ptLst>
  <dgm:cxnLst>
    <dgm:cxn modelId="{596CA004-B177-47BD-AD15-2BA12026BE32}" type="presOf" srcId="{58116A49-5404-480D-9AD9-06FBF52AD212}" destId="{9914AD4D-E06A-401F-8FA8-C4EEA311B248}" srcOrd="0" destOrd="0" presId="urn:microsoft.com/office/officeart/2024/3/layout/verticalVisualTextBlock1"/>
    <dgm:cxn modelId="{06218B0F-E323-4DB6-8ADD-61BDC3E0807E}" type="presOf" srcId="{AF450417-45EF-41EC-938D-9DD411570AE9}" destId="{572256B4-6277-4FD6-AEA1-39DAD6C31944}" srcOrd="0" destOrd="0" presId="urn:microsoft.com/office/officeart/2024/3/layout/verticalVisualTextBlock1"/>
    <dgm:cxn modelId="{00417421-1783-4349-9407-571DA63CDD67}" srcId="{B2174B90-11DC-45A7-97C1-F9E37AC8CFCF}" destId="{0E5388FA-D6F4-4314-B918-86D5308FD5FA}" srcOrd="0" destOrd="0" parTransId="{03245033-306E-4B38-86AD-0C635258C2EA}" sibTransId="{105A2954-9F3E-4FFD-864B-8306435F8D69}"/>
    <dgm:cxn modelId="{8A137A2C-5C84-4FF1-98B4-89194A4FFE1E}" type="presOf" srcId="{B2174B90-11DC-45A7-97C1-F9E37AC8CFCF}" destId="{BB68281A-E791-4C76-AC74-3118F32FC89C}" srcOrd="0" destOrd="0" presId="urn:microsoft.com/office/officeart/2024/3/layout/verticalVisualTextBlock1"/>
    <dgm:cxn modelId="{AFE86132-1550-4B79-9D17-4FB26984DBE4}" type="presOf" srcId="{0E5388FA-D6F4-4314-B918-86D5308FD5FA}" destId="{06B44516-128F-4299-A229-E78234278F1B}" srcOrd="0" destOrd="0" presId="urn:microsoft.com/office/officeart/2024/3/layout/verticalVisualTextBlock1"/>
    <dgm:cxn modelId="{04808F50-3642-417C-89FA-650DC4EFCB16}" srcId="{58116A49-5404-480D-9AD9-06FBF52AD212}" destId="{970397EC-D5A9-4829-8743-A8E3D2C9F858}" srcOrd="0" destOrd="0" parTransId="{664CC029-E7AF-4D59-80F2-7B75ECF7F1FD}" sibTransId="{355D381D-77F8-4666-B5CD-57193447E2BA}"/>
    <dgm:cxn modelId="{853C647C-174F-4792-8A52-227185EA8FBF}" type="presOf" srcId="{5CD54423-768B-4E38-AD83-6CE3D84C08B7}" destId="{17304F8F-179E-47FC-A8DB-085D6593184E}" srcOrd="0" destOrd="0" presId="urn:microsoft.com/office/officeart/2024/3/layout/verticalVisualTextBlock1"/>
    <dgm:cxn modelId="{DB415A8A-98F6-41B1-ACC4-FA6663D6C258}" srcId="{5CD54423-768B-4E38-AD83-6CE3D84C08B7}" destId="{58116A49-5404-480D-9AD9-06FBF52AD212}" srcOrd="2" destOrd="0" parTransId="{EBD15560-3E23-4A99-A3F2-8DF17B4F34CC}" sibTransId="{E85D7621-A129-4BFE-A638-519C8C03042A}"/>
    <dgm:cxn modelId="{8544E18D-111E-4F0F-A97C-E8C55DBF736B}" type="presOf" srcId="{970397EC-D5A9-4829-8743-A8E3D2C9F858}" destId="{B715BE81-1D25-4B8F-AAD3-3441322CE9E3}" srcOrd="0" destOrd="0" presId="urn:microsoft.com/office/officeart/2024/3/layout/verticalVisualTextBlock1"/>
    <dgm:cxn modelId="{55357F98-36B9-4369-B33F-ED912A17BEA1}" type="presOf" srcId="{49D78333-1896-4CF9-B9A7-41FC6312CE9D}" destId="{BA37C40D-F0E1-4E64-B1D1-4BA1B22DF419}" srcOrd="0" destOrd="0" presId="urn:microsoft.com/office/officeart/2024/3/layout/verticalVisualTextBlock1"/>
    <dgm:cxn modelId="{D6FAB9A3-D895-4E96-8F8B-FAE6C59BE5B2}" srcId="{5CD54423-768B-4E38-AD83-6CE3D84C08B7}" destId="{AF450417-45EF-41EC-938D-9DD411570AE9}" srcOrd="0" destOrd="0" parTransId="{73CC2255-B3C8-45F0-806E-3A4FDB48334D}" sibTransId="{F4920279-F6DF-4AC8-90C4-71A6A6267003}"/>
    <dgm:cxn modelId="{B2A855CA-3D0E-42F7-B0FA-5B7CDEEC5F58}" type="presOf" srcId="{F4920279-F6DF-4AC8-90C4-71A6A6267003}" destId="{CC7A36EF-3574-4771-B40C-5421DB79FC05}" srcOrd="0" destOrd="0" presId="urn:microsoft.com/office/officeart/2024/3/layout/verticalVisualTextBlock1"/>
    <dgm:cxn modelId="{2384FECC-B3B6-4A66-B2A1-7D7E849F04C0}" srcId="{5CD54423-768B-4E38-AD83-6CE3D84C08B7}" destId="{B2174B90-11DC-45A7-97C1-F9E37AC8CFCF}" srcOrd="1" destOrd="0" parTransId="{D01B8FAA-8078-4A1A-8485-E748BEC773A9}" sibTransId="{49D78333-1896-4CF9-B9A7-41FC6312CE9D}"/>
    <dgm:cxn modelId="{C14EFDDD-DC0F-4AE1-B2B7-A7F4AAE52230}" type="presOf" srcId="{4801B3C7-4F85-45E4-BC6A-C036FEFFDF21}" destId="{3126BE34-CD6C-44C1-9F33-664657D3F1C6}" srcOrd="0" destOrd="0" presId="urn:microsoft.com/office/officeart/2024/3/layout/verticalVisualTextBlock1"/>
    <dgm:cxn modelId="{BB20B1F8-390E-488B-A5B6-A072C63F8480}" srcId="{AF450417-45EF-41EC-938D-9DD411570AE9}" destId="{4801B3C7-4F85-45E4-BC6A-C036FEFFDF21}" srcOrd="0" destOrd="0" parTransId="{C74990B8-EB7B-40CB-8D51-44738BCBA474}" sibTransId="{A4B86134-0DA8-4FF6-87FA-8710DFBB6D3E}"/>
    <dgm:cxn modelId="{278BEB02-820A-4A26-B021-200496B97245}" type="presParOf" srcId="{17304F8F-179E-47FC-A8DB-085D6593184E}" destId="{DA81A331-F618-4FA8-85E9-C05F722B98EA}" srcOrd="0" destOrd="0" presId="urn:microsoft.com/office/officeart/2024/3/layout/verticalVisualTextBlock1"/>
    <dgm:cxn modelId="{D92CA8BB-A316-444D-AE1B-1D495129AB46}" type="presParOf" srcId="{DA81A331-F618-4FA8-85E9-C05F722B98EA}" destId="{486E4B88-0FD8-4304-BB3A-BC97E7CDE180}" srcOrd="0" destOrd="0" presId="urn:microsoft.com/office/officeart/2024/3/layout/verticalVisualTextBlock1"/>
    <dgm:cxn modelId="{0FE72259-ACCA-44F8-ADD1-1BBE74056FCA}" type="presParOf" srcId="{DA81A331-F618-4FA8-85E9-C05F722B98EA}" destId="{572256B4-6277-4FD6-AEA1-39DAD6C31944}" srcOrd="1" destOrd="0" presId="urn:microsoft.com/office/officeart/2024/3/layout/verticalVisualTextBlock1"/>
    <dgm:cxn modelId="{0F8C1B91-E13A-4DD4-B474-9990E5F08306}" type="presParOf" srcId="{DA81A331-F618-4FA8-85E9-C05F722B98EA}" destId="{3126BE34-CD6C-44C1-9F33-664657D3F1C6}" srcOrd="2" destOrd="0" presId="urn:microsoft.com/office/officeart/2024/3/layout/verticalVisualTextBlock1"/>
    <dgm:cxn modelId="{52595BB1-C472-4D6C-B0D3-261C796C242D}" type="presParOf" srcId="{17304F8F-179E-47FC-A8DB-085D6593184E}" destId="{CC7A36EF-3574-4771-B40C-5421DB79FC05}" srcOrd="1" destOrd="0" presId="urn:microsoft.com/office/officeart/2024/3/layout/verticalVisualTextBlock1"/>
    <dgm:cxn modelId="{0ED8A952-C0DA-4F3E-8F67-37E0E65C30B3}" type="presParOf" srcId="{17304F8F-179E-47FC-A8DB-085D6593184E}" destId="{35FB73B2-2D4E-4271-B341-47DE6F0B3F50}" srcOrd="2" destOrd="0" presId="urn:microsoft.com/office/officeart/2024/3/layout/verticalVisualTextBlock1"/>
    <dgm:cxn modelId="{0874F2E8-B411-418C-A141-1C449744381B}" type="presParOf" srcId="{35FB73B2-2D4E-4271-B341-47DE6F0B3F50}" destId="{1EA04258-B0C9-4C99-BBF3-80C05BEEA922}" srcOrd="0" destOrd="0" presId="urn:microsoft.com/office/officeart/2024/3/layout/verticalVisualTextBlock1"/>
    <dgm:cxn modelId="{42AE9726-ADBC-4198-B15A-2D6205F64B51}" type="presParOf" srcId="{35FB73B2-2D4E-4271-B341-47DE6F0B3F50}" destId="{BB68281A-E791-4C76-AC74-3118F32FC89C}" srcOrd="1" destOrd="0" presId="urn:microsoft.com/office/officeart/2024/3/layout/verticalVisualTextBlock1"/>
    <dgm:cxn modelId="{BEFE7F65-532C-4A1B-B316-0740A2722904}" type="presParOf" srcId="{35FB73B2-2D4E-4271-B341-47DE6F0B3F50}" destId="{06B44516-128F-4299-A229-E78234278F1B}" srcOrd="2" destOrd="0" presId="urn:microsoft.com/office/officeart/2024/3/layout/verticalVisualTextBlock1"/>
    <dgm:cxn modelId="{53C4B3AB-0059-4569-8E0E-C3ADB63525F0}" type="presParOf" srcId="{17304F8F-179E-47FC-A8DB-085D6593184E}" destId="{BA37C40D-F0E1-4E64-B1D1-4BA1B22DF419}" srcOrd="3" destOrd="0" presId="urn:microsoft.com/office/officeart/2024/3/layout/verticalVisualTextBlock1"/>
    <dgm:cxn modelId="{15953900-1338-4F3F-8074-74BAE7842285}" type="presParOf" srcId="{17304F8F-179E-47FC-A8DB-085D6593184E}" destId="{3393BF62-5318-4CD3-AC66-404A38AED7DB}" srcOrd="4" destOrd="0" presId="urn:microsoft.com/office/officeart/2024/3/layout/verticalVisualTextBlock1"/>
    <dgm:cxn modelId="{4B92BB8B-23F2-4407-880F-AAABDBD93756}" type="presParOf" srcId="{3393BF62-5318-4CD3-AC66-404A38AED7DB}" destId="{931DA998-2FAD-4E9B-B0BA-194357FF7B3F}" srcOrd="0" destOrd="0" presId="urn:microsoft.com/office/officeart/2024/3/layout/verticalVisualTextBlock1"/>
    <dgm:cxn modelId="{F08A489D-6139-4784-B1BB-7EA6D3E403B2}" type="presParOf" srcId="{3393BF62-5318-4CD3-AC66-404A38AED7DB}" destId="{9914AD4D-E06A-401F-8FA8-C4EEA311B248}" srcOrd="1" destOrd="0" presId="urn:microsoft.com/office/officeart/2024/3/layout/verticalVisualTextBlock1"/>
    <dgm:cxn modelId="{89E96748-5F45-44BE-B586-EECE20BBE195}" type="presParOf" srcId="{3393BF62-5318-4CD3-AC66-404A38AED7DB}" destId="{B715BE81-1D25-4B8F-AAD3-3441322CE9E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EFC476-BF75-492E-B049-6087E60C5032}"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EF9CEE37-D6E9-4B3E-9F6F-B7D3D3D53D89}">
      <dgm:prSet/>
      <dgm:spPr/>
      <dgm:t>
        <a:bodyPr/>
        <a:lstStyle/>
        <a:p>
          <a:pPr>
            <a:lnSpc>
              <a:spcPct val="100000"/>
            </a:lnSpc>
            <a:defRPr b="1"/>
          </a:pPr>
          <a:r>
            <a:rPr lang="en-US"/>
            <a:t>System Setup and Configuration</a:t>
          </a:r>
        </a:p>
      </dgm:t>
    </dgm:pt>
    <dgm:pt modelId="{58936E42-4FE7-460D-BBB5-29769C26E61E}" type="parTrans" cxnId="{46F4DF31-8994-4132-901F-455C72E9A8DC}">
      <dgm:prSet/>
      <dgm:spPr/>
      <dgm:t>
        <a:bodyPr/>
        <a:lstStyle/>
        <a:p>
          <a:endParaRPr lang="en-US"/>
        </a:p>
      </dgm:t>
    </dgm:pt>
    <dgm:pt modelId="{8379765C-B7B3-4DB2-95A9-3409150574FB}" type="sibTrans" cxnId="{46F4DF31-8994-4132-901F-455C72E9A8DC}">
      <dgm:prSet/>
      <dgm:spPr/>
      <dgm:t>
        <a:bodyPr/>
        <a:lstStyle/>
        <a:p>
          <a:pPr>
            <a:lnSpc>
              <a:spcPct val="100000"/>
            </a:lnSpc>
            <a:defRPr b="1"/>
          </a:pPr>
          <a:endParaRPr lang="en-US"/>
        </a:p>
      </dgm:t>
    </dgm:pt>
    <dgm:pt modelId="{8821A019-42CE-4C7C-82C2-15909EC23EC6}">
      <dgm:prSet/>
      <dgm:spPr/>
      <dgm:t>
        <a:bodyPr/>
        <a:lstStyle/>
        <a:p>
          <a:pPr>
            <a:lnSpc>
              <a:spcPct val="100000"/>
            </a:lnSpc>
          </a:pPr>
          <a:r>
            <a:rPr lang="en-US"/>
            <a:t>Organizations install and configure UAMS, set up user accounts, and define system parameters for initial deployment.</a:t>
          </a:r>
        </a:p>
      </dgm:t>
    </dgm:pt>
    <dgm:pt modelId="{F5BF300A-30AA-4644-A6C6-83E42101375D}" type="parTrans" cxnId="{A398F924-2E04-4A73-88AE-6B3F5D18FFBF}">
      <dgm:prSet/>
      <dgm:spPr/>
      <dgm:t>
        <a:bodyPr/>
        <a:lstStyle/>
        <a:p>
          <a:endParaRPr lang="en-US"/>
        </a:p>
      </dgm:t>
    </dgm:pt>
    <dgm:pt modelId="{580A8844-C415-41F5-9720-71C98C0620DF}" type="sibTrans" cxnId="{A398F924-2E04-4A73-88AE-6B3F5D18FFBF}">
      <dgm:prSet/>
      <dgm:spPr/>
      <dgm:t>
        <a:bodyPr/>
        <a:lstStyle/>
        <a:p>
          <a:endParaRPr lang="en-US"/>
        </a:p>
      </dgm:t>
    </dgm:pt>
    <dgm:pt modelId="{1560111B-10E6-4F3F-95B1-3DB870E2680A}">
      <dgm:prSet/>
      <dgm:spPr/>
      <dgm:t>
        <a:bodyPr/>
        <a:lstStyle/>
        <a:p>
          <a:pPr>
            <a:lnSpc>
              <a:spcPct val="100000"/>
            </a:lnSpc>
            <a:defRPr b="1"/>
          </a:pPr>
          <a:r>
            <a:rPr lang="en-US"/>
            <a:t>Data Import and Access Documentation</a:t>
          </a:r>
        </a:p>
      </dgm:t>
    </dgm:pt>
    <dgm:pt modelId="{7129C6F4-42AA-4FE9-974F-2D4509F4D00A}" type="parTrans" cxnId="{7E78F88B-68C7-49F5-BF23-8ADF6ED3E8EF}">
      <dgm:prSet/>
      <dgm:spPr/>
      <dgm:t>
        <a:bodyPr/>
        <a:lstStyle/>
        <a:p>
          <a:endParaRPr lang="en-US"/>
        </a:p>
      </dgm:t>
    </dgm:pt>
    <dgm:pt modelId="{70913FD6-4125-4FB4-A156-BDF69F4BDBF0}" type="sibTrans" cxnId="{7E78F88B-68C7-49F5-BF23-8ADF6ED3E8EF}">
      <dgm:prSet/>
      <dgm:spPr/>
      <dgm:t>
        <a:bodyPr/>
        <a:lstStyle/>
        <a:p>
          <a:pPr>
            <a:lnSpc>
              <a:spcPct val="100000"/>
            </a:lnSpc>
            <a:defRPr b="1"/>
          </a:pPr>
          <a:endParaRPr lang="en-US"/>
        </a:p>
      </dgm:t>
    </dgm:pt>
    <dgm:pt modelId="{53EECDC6-4724-429D-B330-6D7A3ED9DF66}">
      <dgm:prSet/>
      <dgm:spPr/>
      <dgm:t>
        <a:bodyPr/>
        <a:lstStyle/>
        <a:p>
          <a:pPr>
            <a:lnSpc>
              <a:spcPct val="100000"/>
            </a:lnSpc>
          </a:pPr>
          <a:r>
            <a:rPr lang="en-US"/>
            <a:t>Import existing user and system data, document access rights, and link system approvals to maintain accurate records.</a:t>
          </a:r>
        </a:p>
      </dgm:t>
    </dgm:pt>
    <dgm:pt modelId="{CDC6C027-C8E9-41D8-8D79-C479E8A46C52}" type="parTrans" cxnId="{280C0814-0D49-4662-8897-D3AF6D9F25F9}">
      <dgm:prSet/>
      <dgm:spPr/>
      <dgm:t>
        <a:bodyPr/>
        <a:lstStyle/>
        <a:p>
          <a:endParaRPr lang="en-US"/>
        </a:p>
      </dgm:t>
    </dgm:pt>
    <dgm:pt modelId="{060B2A1A-2607-4E58-91DE-C4837F93B253}" type="sibTrans" cxnId="{280C0814-0D49-4662-8897-D3AF6D9F25F9}">
      <dgm:prSet/>
      <dgm:spPr/>
      <dgm:t>
        <a:bodyPr/>
        <a:lstStyle/>
        <a:p>
          <a:endParaRPr lang="en-US"/>
        </a:p>
      </dgm:t>
    </dgm:pt>
    <dgm:pt modelId="{0BA20C0A-BE5D-4C27-ACA6-CC9DCF086308}">
      <dgm:prSet/>
      <dgm:spPr/>
      <dgm:t>
        <a:bodyPr/>
        <a:lstStyle/>
        <a:p>
          <a:pPr>
            <a:lnSpc>
              <a:spcPct val="100000"/>
            </a:lnSpc>
            <a:defRPr b="1"/>
          </a:pPr>
          <a:r>
            <a:rPr lang="en-US"/>
            <a:t>Review Scheduling and Reporting</a:t>
          </a:r>
        </a:p>
      </dgm:t>
    </dgm:pt>
    <dgm:pt modelId="{32C08CEF-14C7-43BC-BA68-65B478EC4945}" type="parTrans" cxnId="{6724AF56-D8E8-405C-A82D-1409226FA657}">
      <dgm:prSet/>
      <dgm:spPr/>
      <dgm:t>
        <a:bodyPr/>
        <a:lstStyle/>
        <a:p>
          <a:endParaRPr lang="en-US"/>
        </a:p>
      </dgm:t>
    </dgm:pt>
    <dgm:pt modelId="{B37BCD02-1BA2-4F3B-A4F2-AD8A063DC440}" type="sibTrans" cxnId="{6724AF56-D8E8-405C-A82D-1409226FA657}">
      <dgm:prSet/>
      <dgm:spPr/>
      <dgm:t>
        <a:bodyPr/>
        <a:lstStyle/>
        <a:p>
          <a:endParaRPr lang="en-US"/>
        </a:p>
      </dgm:t>
    </dgm:pt>
    <dgm:pt modelId="{E585D950-7665-4B5E-8969-57A3F7B43E82}">
      <dgm:prSet/>
      <dgm:spPr/>
      <dgm:t>
        <a:bodyPr/>
        <a:lstStyle/>
        <a:p>
          <a:pPr>
            <a:lnSpc>
              <a:spcPct val="100000"/>
            </a:lnSpc>
          </a:pPr>
          <a:r>
            <a:rPr lang="en-US"/>
            <a:t>Schedule quarterly reviews to ensure compliance and generate detailed reports for auditing and accountability.</a:t>
          </a:r>
        </a:p>
      </dgm:t>
    </dgm:pt>
    <dgm:pt modelId="{60B7514A-236F-4371-B77F-EC23B8095E3F}" type="parTrans" cxnId="{FF2B29BC-B167-4EF7-8E27-EC79C9C6CC8B}">
      <dgm:prSet/>
      <dgm:spPr/>
      <dgm:t>
        <a:bodyPr/>
        <a:lstStyle/>
        <a:p>
          <a:endParaRPr lang="en-US"/>
        </a:p>
      </dgm:t>
    </dgm:pt>
    <dgm:pt modelId="{B8CB8A7A-F450-419F-8BC1-9C7ABF1E543F}" type="sibTrans" cxnId="{FF2B29BC-B167-4EF7-8E27-EC79C9C6CC8B}">
      <dgm:prSet/>
      <dgm:spPr/>
      <dgm:t>
        <a:bodyPr/>
        <a:lstStyle/>
        <a:p>
          <a:endParaRPr lang="en-US"/>
        </a:p>
      </dgm:t>
    </dgm:pt>
    <dgm:pt modelId="{9C97D8C1-F64C-462A-9593-59C0229459B7}" type="pres">
      <dgm:prSet presAssocID="{14EFC476-BF75-492E-B049-6087E60C5032}" presName="Root" presStyleCnt="0">
        <dgm:presLayoutVars>
          <dgm:dir/>
          <dgm:resizeHandles val="exact"/>
        </dgm:presLayoutVars>
      </dgm:prSet>
      <dgm:spPr/>
    </dgm:pt>
    <dgm:pt modelId="{D1E9ED1C-7B1A-46FD-9915-31BD4350E7F0}" type="pres">
      <dgm:prSet presAssocID="{EF9CEE37-D6E9-4B3E-9F6F-B7D3D3D53D89}" presName="Composite" presStyleCnt="0"/>
      <dgm:spPr/>
    </dgm:pt>
    <dgm:pt modelId="{F6ACA9A0-3D39-4FA1-B6DA-0661719984FF}" type="pres">
      <dgm:prSet presAssocID="{EF9CEE37-D6E9-4B3E-9F6F-B7D3D3D53D8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9639" r="23608" b="-6"/>
          <a:stretch/>
        </a:blipFill>
      </dgm:spPr>
      <dgm:extLst>
        <a:ext uri="{E40237B7-FDA0-4F09-8148-C483321AD2D9}">
          <dgm14:cNvPr xmlns:dgm14="http://schemas.microsoft.com/office/drawing/2010/diagram" id="0" name="" descr="People working"/>
        </a:ext>
      </dgm:extLst>
    </dgm:pt>
    <dgm:pt modelId="{654FAF13-47D5-4971-B33B-E8E86523A6DA}" type="pres">
      <dgm:prSet presAssocID="{EF9CEE37-D6E9-4B3E-9F6F-B7D3D3D53D89}" presName="Subtitle" presStyleLbl="revTx" presStyleIdx="0" presStyleCnt="6">
        <dgm:presLayoutVars>
          <dgm:chMax val="0"/>
          <dgm:bulletEnabled/>
        </dgm:presLayoutVars>
      </dgm:prSet>
      <dgm:spPr/>
    </dgm:pt>
    <dgm:pt modelId="{06F044ED-1CB3-4180-9B53-BA3DE40A3BC2}" type="pres">
      <dgm:prSet presAssocID="{EF9CEE37-D6E9-4B3E-9F6F-B7D3D3D53D89}" presName="Description" presStyleLbl="revTx" presStyleIdx="1" presStyleCnt="6">
        <dgm:presLayoutVars>
          <dgm:bulletEnabled/>
        </dgm:presLayoutVars>
      </dgm:prSet>
      <dgm:spPr/>
    </dgm:pt>
    <dgm:pt modelId="{741895F2-BDA1-41D8-9F5E-9BC16AF7A67D}" type="pres">
      <dgm:prSet presAssocID="{8379765C-B7B3-4DB2-95A9-3409150574FB}" presName="sibTrans" presStyleLbl="sibTrans2D1" presStyleIdx="0" presStyleCnt="0"/>
      <dgm:spPr/>
    </dgm:pt>
    <dgm:pt modelId="{EBB44132-8469-4BA3-BA7D-4B56E0906777}" type="pres">
      <dgm:prSet presAssocID="{1560111B-10E6-4F3F-95B1-3DB870E2680A}" presName="Composite" presStyleCnt="0"/>
      <dgm:spPr/>
    </dgm:pt>
    <dgm:pt modelId="{50FBF48A-DE79-49D9-A059-A1128F6DE941}" type="pres">
      <dgm:prSet presAssocID="{1560111B-10E6-4F3F-95B1-3DB870E2680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0129" r="14868" b="-3"/>
          <a:stretch/>
        </a:blipFill>
      </dgm:spPr>
      <dgm:extLst>
        <a:ext uri="{E40237B7-FDA0-4F09-8148-C483321AD2D9}">
          <dgm14:cNvPr xmlns:dgm14="http://schemas.microsoft.com/office/drawing/2010/diagram" id="0" name="" descr="Download or upload files concept"/>
        </a:ext>
      </dgm:extLst>
    </dgm:pt>
    <dgm:pt modelId="{7E6C6FAD-9094-4637-866B-2FBAA278ACE5}" type="pres">
      <dgm:prSet presAssocID="{1560111B-10E6-4F3F-95B1-3DB870E2680A}" presName="Subtitle" presStyleLbl="revTx" presStyleIdx="2" presStyleCnt="6">
        <dgm:presLayoutVars>
          <dgm:chMax val="0"/>
          <dgm:bulletEnabled/>
        </dgm:presLayoutVars>
      </dgm:prSet>
      <dgm:spPr/>
    </dgm:pt>
    <dgm:pt modelId="{581BB29B-5BB4-4298-BA9D-8A13FDEE686E}" type="pres">
      <dgm:prSet presAssocID="{1560111B-10E6-4F3F-95B1-3DB870E2680A}" presName="Description" presStyleLbl="revTx" presStyleIdx="3" presStyleCnt="6">
        <dgm:presLayoutVars>
          <dgm:bulletEnabled/>
        </dgm:presLayoutVars>
      </dgm:prSet>
      <dgm:spPr/>
    </dgm:pt>
    <dgm:pt modelId="{48555F49-FC72-4CAA-BADD-B81ECFD6BE23}" type="pres">
      <dgm:prSet presAssocID="{70913FD6-4125-4FB4-A156-BDF69F4BDBF0}" presName="sibTrans" presStyleLbl="sibTrans2D1" presStyleIdx="0" presStyleCnt="0"/>
      <dgm:spPr/>
    </dgm:pt>
    <dgm:pt modelId="{765CA364-4CB2-494B-8A34-49999BCED12C}" type="pres">
      <dgm:prSet presAssocID="{0BA20C0A-BE5D-4C27-ACA6-CC9DCF086308}" presName="Composite" presStyleCnt="0"/>
      <dgm:spPr/>
    </dgm:pt>
    <dgm:pt modelId="{FC911AA0-7069-43A8-AA6A-137DA8058FF9}" type="pres">
      <dgm:prSet presAssocID="{0BA20C0A-BE5D-4C27-ACA6-CC9DCF08630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7450" r="25796" b="-6"/>
          <a:stretch/>
        </a:blipFill>
      </dgm:spPr>
      <dgm:extLst>
        <a:ext uri="{E40237B7-FDA0-4F09-8148-C483321AD2D9}">
          <dgm14:cNvPr xmlns:dgm14="http://schemas.microsoft.com/office/drawing/2010/diagram" id="0" name="" descr="A page in a planner"/>
        </a:ext>
      </dgm:extLst>
    </dgm:pt>
    <dgm:pt modelId="{4CC5A602-D7AE-451C-8071-14809D043783}" type="pres">
      <dgm:prSet presAssocID="{0BA20C0A-BE5D-4C27-ACA6-CC9DCF086308}" presName="Subtitle" presStyleLbl="revTx" presStyleIdx="4" presStyleCnt="6">
        <dgm:presLayoutVars>
          <dgm:chMax val="0"/>
          <dgm:bulletEnabled/>
        </dgm:presLayoutVars>
      </dgm:prSet>
      <dgm:spPr/>
    </dgm:pt>
    <dgm:pt modelId="{CD39BDCE-0AB3-4D6F-931C-72792083FDCD}" type="pres">
      <dgm:prSet presAssocID="{0BA20C0A-BE5D-4C27-ACA6-CC9DCF086308}" presName="Description" presStyleLbl="revTx" presStyleIdx="5" presStyleCnt="6">
        <dgm:presLayoutVars>
          <dgm:bulletEnabled/>
        </dgm:presLayoutVars>
      </dgm:prSet>
      <dgm:spPr/>
    </dgm:pt>
  </dgm:ptLst>
  <dgm:cxnLst>
    <dgm:cxn modelId="{280C0814-0D49-4662-8897-D3AF6D9F25F9}" srcId="{1560111B-10E6-4F3F-95B1-3DB870E2680A}" destId="{53EECDC6-4724-429D-B330-6D7A3ED9DF66}" srcOrd="0" destOrd="0" parTransId="{CDC6C027-C8E9-41D8-8D79-C479E8A46C52}" sibTransId="{060B2A1A-2607-4E58-91DE-C4837F93B253}"/>
    <dgm:cxn modelId="{F13A091B-25DC-4889-8A2E-E8A695473FCD}" type="presOf" srcId="{8379765C-B7B3-4DB2-95A9-3409150574FB}" destId="{741895F2-BDA1-41D8-9F5E-9BC16AF7A67D}" srcOrd="0" destOrd="0" presId="urn:microsoft.com/office/officeart/2024/3/layout/verticalVisualTextBlock1"/>
    <dgm:cxn modelId="{A398F924-2E04-4A73-88AE-6B3F5D18FFBF}" srcId="{EF9CEE37-D6E9-4B3E-9F6F-B7D3D3D53D89}" destId="{8821A019-42CE-4C7C-82C2-15909EC23EC6}" srcOrd="0" destOrd="0" parTransId="{F5BF300A-30AA-4644-A6C6-83E42101375D}" sibTransId="{580A8844-C415-41F5-9720-71C98C0620DF}"/>
    <dgm:cxn modelId="{FB187826-BFD9-42DD-9CE9-CC04358A1DA6}" type="presOf" srcId="{E585D950-7665-4B5E-8969-57A3F7B43E82}" destId="{CD39BDCE-0AB3-4D6F-931C-72792083FDCD}" srcOrd="0" destOrd="0" presId="urn:microsoft.com/office/officeart/2024/3/layout/verticalVisualTextBlock1"/>
    <dgm:cxn modelId="{46F4DF31-8994-4132-901F-455C72E9A8DC}" srcId="{14EFC476-BF75-492E-B049-6087E60C5032}" destId="{EF9CEE37-D6E9-4B3E-9F6F-B7D3D3D53D89}" srcOrd="0" destOrd="0" parTransId="{58936E42-4FE7-460D-BBB5-29769C26E61E}" sibTransId="{8379765C-B7B3-4DB2-95A9-3409150574FB}"/>
    <dgm:cxn modelId="{03853740-7868-410B-848B-317EBD56448D}" type="presOf" srcId="{0BA20C0A-BE5D-4C27-ACA6-CC9DCF086308}" destId="{4CC5A602-D7AE-451C-8071-14809D043783}" srcOrd="0" destOrd="0" presId="urn:microsoft.com/office/officeart/2024/3/layout/verticalVisualTextBlock1"/>
    <dgm:cxn modelId="{8DCA9A60-B4E6-40F6-A2E1-24859C66EBD9}" type="presOf" srcId="{EF9CEE37-D6E9-4B3E-9F6F-B7D3D3D53D89}" destId="{654FAF13-47D5-4971-B33B-E8E86523A6DA}" srcOrd="0" destOrd="0" presId="urn:microsoft.com/office/officeart/2024/3/layout/verticalVisualTextBlock1"/>
    <dgm:cxn modelId="{6724AF56-D8E8-405C-A82D-1409226FA657}" srcId="{14EFC476-BF75-492E-B049-6087E60C5032}" destId="{0BA20C0A-BE5D-4C27-ACA6-CC9DCF086308}" srcOrd="2" destOrd="0" parTransId="{32C08CEF-14C7-43BC-BA68-65B478EC4945}" sibTransId="{B37BCD02-1BA2-4F3B-A4F2-AD8A063DC440}"/>
    <dgm:cxn modelId="{EDBB457B-82E5-4F6D-9059-1F335B892D03}" type="presOf" srcId="{70913FD6-4125-4FB4-A156-BDF69F4BDBF0}" destId="{48555F49-FC72-4CAA-BADD-B81ECFD6BE23}" srcOrd="0" destOrd="0" presId="urn:microsoft.com/office/officeart/2024/3/layout/verticalVisualTextBlock1"/>
    <dgm:cxn modelId="{B07E947C-28B1-4F04-818B-111BE4C68374}" type="presOf" srcId="{8821A019-42CE-4C7C-82C2-15909EC23EC6}" destId="{06F044ED-1CB3-4180-9B53-BA3DE40A3BC2}" srcOrd="0" destOrd="0" presId="urn:microsoft.com/office/officeart/2024/3/layout/verticalVisualTextBlock1"/>
    <dgm:cxn modelId="{A26C6482-E377-422F-9F5D-79930D507CCC}" type="presOf" srcId="{1560111B-10E6-4F3F-95B1-3DB870E2680A}" destId="{7E6C6FAD-9094-4637-866B-2FBAA278ACE5}" srcOrd="0" destOrd="0" presId="urn:microsoft.com/office/officeart/2024/3/layout/verticalVisualTextBlock1"/>
    <dgm:cxn modelId="{7E78F88B-68C7-49F5-BF23-8ADF6ED3E8EF}" srcId="{14EFC476-BF75-492E-B049-6087E60C5032}" destId="{1560111B-10E6-4F3F-95B1-3DB870E2680A}" srcOrd="1" destOrd="0" parTransId="{7129C6F4-42AA-4FE9-974F-2D4509F4D00A}" sibTransId="{70913FD6-4125-4FB4-A156-BDF69F4BDBF0}"/>
    <dgm:cxn modelId="{FF2B29BC-B167-4EF7-8E27-EC79C9C6CC8B}" srcId="{0BA20C0A-BE5D-4C27-ACA6-CC9DCF086308}" destId="{E585D950-7665-4B5E-8969-57A3F7B43E82}" srcOrd="0" destOrd="0" parTransId="{60B7514A-236F-4371-B77F-EC23B8095E3F}" sibTransId="{B8CB8A7A-F450-419F-8BC1-9C7ABF1E543F}"/>
    <dgm:cxn modelId="{CE7772BD-183B-4B3A-A3FF-06C7B2B80A6F}" type="presOf" srcId="{14EFC476-BF75-492E-B049-6087E60C5032}" destId="{9C97D8C1-F64C-462A-9593-59C0229459B7}" srcOrd="0" destOrd="0" presId="urn:microsoft.com/office/officeart/2024/3/layout/verticalVisualTextBlock1"/>
    <dgm:cxn modelId="{CF6646D7-5DF8-4344-8DDD-D7FF38A21F1F}" type="presOf" srcId="{53EECDC6-4724-429D-B330-6D7A3ED9DF66}" destId="{581BB29B-5BB4-4298-BA9D-8A13FDEE686E}" srcOrd="0" destOrd="0" presId="urn:microsoft.com/office/officeart/2024/3/layout/verticalVisualTextBlock1"/>
    <dgm:cxn modelId="{B0514E6D-CB5E-4577-AB22-E0EE2D0CB243}" type="presParOf" srcId="{9C97D8C1-F64C-462A-9593-59C0229459B7}" destId="{D1E9ED1C-7B1A-46FD-9915-31BD4350E7F0}" srcOrd="0" destOrd="0" presId="urn:microsoft.com/office/officeart/2024/3/layout/verticalVisualTextBlock1"/>
    <dgm:cxn modelId="{70BC6760-3804-4792-9E3C-3B77E3BAC71A}" type="presParOf" srcId="{D1E9ED1C-7B1A-46FD-9915-31BD4350E7F0}" destId="{F6ACA9A0-3D39-4FA1-B6DA-0661719984FF}" srcOrd="0" destOrd="0" presId="urn:microsoft.com/office/officeart/2024/3/layout/verticalVisualTextBlock1"/>
    <dgm:cxn modelId="{D8C2ED15-0275-47FD-8838-D711DC7255F0}" type="presParOf" srcId="{D1E9ED1C-7B1A-46FD-9915-31BD4350E7F0}" destId="{654FAF13-47D5-4971-B33B-E8E86523A6DA}" srcOrd="1" destOrd="0" presId="urn:microsoft.com/office/officeart/2024/3/layout/verticalVisualTextBlock1"/>
    <dgm:cxn modelId="{AEBA49C4-1D41-4880-9F1A-E57EB3D3478B}" type="presParOf" srcId="{D1E9ED1C-7B1A-46FD-9915-31BD4350E7F0}" destId="{06F044ED-1CB3-4180-9B53-BA3DE40A3BC2}" srcOrd="2" destOrd="0" presId="urn:microsoft.com/office/officeart/2024/3/layout/verticalVisualTextBlock1"/>
    <dgm:cxn modelId="{49C43AA0-399B-44D1-8450-9648EDEE07C3}" type="presParOf" srcId="{9C97D8C1-F64C-462A-9593-59C0229459B7}" destId="{741895F2-BDA1-41D8-9F5E-9BC16AF7A67D}" srcOrd="1" destOrd="0" presId="urn:microsoft.com/office/officeart/2024/3/layout/verticalVisualTextBlock1"/>
    <dgm:cxn modelId="{EFD4F20C-B88D-4CA3-BFC4-E2F31DA5069C}" type="presParOf" srcId="{9C97D8C1-F64C-462A-9593-59C0229459B7}" destId="{EBB44132-8469-4BA3-BA7D-4B56E0906777}" srcOrd="2" destOrd="0" presId="urn:microsoft.com/office/officeart/2024/3/layout/verticalVisualTextBlock1"/>
    <dgm:cxn modelId="{673C4E6C-13F9-4298-A8E4-6DC2BC50AEA5}" type="presParOf" srcId="{EBB44132-8469-4BA3-BA7D-4B56E0906777}" destId="{50FBF48A-DE79-49D9-A059-A1128F6DE941}" srcOrd="0" destOrd="0" presId="urn:microsoft.com/office/officeart/2024/3/layout/verticalVisualTextBlock1"/>
    <dgm:cxn modelId="{5B5CAFBE-BCA6-4DD9-8A98-9BB286D5A22F}" type="presParOf" srcId="{EBB44132-8469-4BA3-BA7D-4B56E0906777}" destId="{7E6C6FAD-9094-4637-866B-2FBAA278ACE5}" srcOrd="1" destOrd="0" presId="urn:microsoft.com/office/officeart/2024/3/layout/verticalVisualTextBlock1"/>
    <dgm:cxn modelId="{02DB13D8-7CB5-43DB-8CFD-DEC37A2B4216}" type="presParOf" srcId="{EBB44132-8469-4BA3-BA7D-4B56E0906777}" destId="{581BB29B-5BB4-4298-BA9D-8A13FDEE686E}" srcOrd="2" destOrd="0" presId="urn:microsoft.com/office/officeart/2024/3/layout/verticalVisualTextBlock1"/>
    <dgm:cxn modelId="{AE971EF8-FD38-4694-AC42-2632C4F5F811}" type="presParOf" srcId="{9C97D8C1-F64C-462A-9593-59C0229459B7}" destId="{48555F49-FC72-4CAA-BADD-B81ECFD6BE23}" srcOrd="3" destOrd="0" presId="urn:microsoft.com/office/officeart/2024/3/layout/verticalVisualTextBlock1"/>
    <dgm:cxn modelId="{94DF5B3C-43BA-49A5-926A-64C20659C033}" type="presParOf" srcId="{9C97D8C1-F64C-462A-9593-59C0229459B7}" destId="{765CA364-4CB2-494B-8A34-49999BCED12C}" srcOrd="4" destOrd="0" presId="urn:microsoft.com/office/officeart/2024/3/layout/verticalVisualTextBlock1"/>
    <dgm:cxn modelId="{9B9794A8-48EB-40C8-9E99-566F2A1D26F3}" type="presParOf" srcId="{765CA364-4CB2-494B-8A34-49999BCED12C}" destId="{FC911AA0-7069-43A8-AA6A-137DA8058FF9}" srcOrd="0" destOrd="0" presId="urn:microsoft.com/office/officeart/2024/3/layout/verticalVisualTextBlock1"/>
    <dgm:cxn modelId="{0FA587BB-2BDD-4A9C-9786-F2173DDDD719}" type="presParOf" srcId="{765CA364-4CB2-494B-8A34-49999BCED12C}" destId="{4CC5A602-D7AE-451C-8071-14809D043783}" srcOrd="1" destOrd="0" presId="urn:microsoft.com/office/officeart/2024/3/layout/verticalVisualTextBlock1"/>
    <dgm:cxn modelId="{8ABFD031-AED8-4632-96A9-8FFF8228995A}" type="presParOf" srcId="{765CA364-4CB2-494B-8A34-49999BCED12C}" destId="{CD39BDCE-0AB3-4D6F-931C-72792083FDC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6E4B88-0FD8-4304-BB3A-BC97E7CDE180}">
      <dsp:nvSpPr>
        <dsp:cNvPr id="0" name=""/>
        <dsp:cNvSpPr/>
      </dsp:nvSpPr>
      <dsp:spPr>
        <a:xfrm>
          <a:off x="0" y="0"/>
          <a:ext cx="1388745" cy="138874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0498" r="26754" b="4"/>
          <a:stretch/>
        </a:blipFill>
        <a:ln>
          <a:noFill/>
        </a:ln>
        <a:effectLst/>
      </dsp:spPr>
      <dsp:style>
        <a:lnRef idx="0">
          <a:scrgbClr r="0" g="0" b="0"/>
        </a:lnRef>
        <a:fillRef idx="3">
          <a:scrgbClr r="0" g="0" b="0"/>
        </a:fillRef>
        <a:effectRef idx="2">
          <a:scrgbClr r="0" g="0" b="0"/>
        </a:effectRef>
        <a:fontRef idx="minor">
          <a:schemeClr val="lt1"/>
        </a:fontRef>
      </dsp:style>
    </dsp:sp>
    <dsp:sp modelId="{572256B4-6277-4FD6-AEA1-39DAD6C31944}">
      <dsp:nvSpPr>
        <dsp:cNvPr id="0" name=""/>
        <dsp:cNvSpPr/>
      </dsp:nvSpPr>
      <dsp:spPr>
        <a:xfrm>
          <a:off x="1568745" y="0"/>
          <a:ext cx="8489654"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Centralized Compliance Tracking</a:t>
          </a:r>
        </a:p>
      </dsp:txBody>
      <dsp:txXfrm>
        <a:off x="1568745" y="0"/>
        <a:ext cx="8489654" cy="342436"/>
      </dsp:txXfrm>
    </dsp:sp>
    <dsp:sp modelId="{3126BE34-CD6C-44C1-9F33-664657D3F1C6}">
      <dsp:nvSpPr>
        <dsp:cNvPr id="0" name=""/>
        <dsp:cNvSpPr/>
      </dsp:nvSpPr>
      <dsp:spPr>
        <a:xfrm>
          <a:off x="1568745" y="342436"/>
          <a:ext cx="8489654"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UAMS provides centralized tracking and documentation for compliance across systems like Active Directory, PMS, and POS.</a:t>
          </a:r>
        </a:p>
      </dsp:txBody>
      <dsp:txXfrm>
        <a:off x="1568745" y="342436"/>
        <a:ext cx="8489654" cy="1046308"/>
      </dsp:txXfrm>
    </dsp:sp>
    <dsp:sp modelId="{1EA04258-B0C9-4C99-BBF3-80C05BEEA922}">
      <dsp:nvSpPr>
        <dsp:cNvPr id="0" name=""/>
        <dsp:cNvSpPr/>
      </dsp:nvSpPr>
      <dsp:spPr>
        <a:xfrm>
          <a:off x="0" y="1499844"/>
          <a:ext cx="1388745" cy="138874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496" r="14750" b="-6"/>
          <a:stretch/>
        </a:blipFill>
        <a:ln>
          <a:noFill/>
        </a:ln>
        <a:effectLst/>
      </dsp:spPr>
      <dsp:style>
        <a:lnRef idx="0">
          <a:scrgbClr r="0" g="0" b="0"/>
        </a:lnRef>
        <a:fillRef idx="3">
          <a:scrgbClr r="0" g="0" b="0"/>
        </a:fillRef>
        <a:effectRef idx="2">
          <a:scrgbClr r="0" g="0" b="0"/>
        </a:effectRef>
        <a:fontRef idx="minor">
          <a:schemeClr val="lt1"/>
        </a:fontRef>
      </dsp:style>
    </dsp:sp>
    <dsp:sp modelId="{BB68281A-E791-4C76-AC74-3118F32FC89C}">
      <dsp:nvSpPr>
        <dsp:cNvPr id="0" name=""/>
        <dsp:cNvSpPr/>
      </dsp:nvSpPr>
      <dsp:spPr>
        <a:xfrm>
          <a:off x="1568745" y="1499844"/>
          <a:ext cx="8489654"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Audit Evidence Documentation</a:t>
          </a:r>
        </a:p>
      </dsp:txBody>
      <dsp:txXfrm>
        <a:off x="1568745" y="1499844"/>
        <a:ext cx="8489654" cy="342436"/>
      </dsp:txXfrm>
    </dsp:sp>
    <dsp:sp modelId="{06B44516-128F-4299-A229-E78234278F1B}">
      <dsp:nvSpPr>
        <dsp:cNvPr id="0" name=""/>
        <dsp:cNvSpPr/>
      </dsp:nvSpPr>
      <dsp:spPr>
        <a:xfrm>
          <a:off x="1568745" y="1842280"/>
          <a:ext cx="8489654"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system documents user account activities and generates reports to demonstrate adherence to security policies for audits.</a:t>
          </a:r>
        </a:p>
      </dsp:txBody>
      <dsp:txXfrm>
        <a:off x="1568745" y="1842280"/>
        <a:ext cx="8489654" cy="1046308"/>
      </dsp:txXfrm>
    </dsp:sp>
    <dsp:sp modelId="{931DA998-2FAD-4E9B-B0BA-194357FF7B3F}">
      <dsp:nvSpPr>
        <dsp:cNvPr id="0" name=""/>
        <dsp:cNvSpPr/>
      </dsp:nvSpPr>
      <dsp:spPr>
        <a:xfrm>
          <a:off x="0" y="2999689"/>
          <a:ext cx="1388744" cy="138874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908" r="23090" b="-3"/>
          <a:stretch/>
        </a:blipFill>
        <a:ln>
          <a:noFill/>
        </a:ln>
        <a:effectLst/>
      </dsp:spPr>
      <dsp:style>
        <a:lnRef idx="0">
          <a:scrgbClr r="0" g="0" b="0"/>
        </a:lnRef>
        <a:fillRef idx="3">
          <a:scrgbClr r="0" g="0" b="0"/>
        </a:fillRef>
        <a:effectRef idx="2">
          <a:scrgbClr r="0" g="0" b="0"/>
        </a:effectRef>
        <a:fontRef idx="minor">
          <a:schemeClr val="lt1"/>
        </a:fontRef>
      </dsp:style>
    </dsp:sp>
    <dsp:sp modelId="{9914AD4D-E06A-401F-8FA8-C4EEA311B248}">
      <dsp:nvSpPr>
        <dsp:cNvPr id="0" name=""/>
        <dsp:cNvSpPr/>
      </dsp:nvSpPr>
      <dsp:spPr>
        <a:xfrm>
          <a:off x="1568744" y="2999689"/>
          <a:ext cx="8489655"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Compliance with Security Standards</a:t>
          </a:r>
        </a:p>
      </dsp:txBody>
      <dsp:txXfrm>
        <a:off x="1568744" y="2999689"/>
        <a:ext cx="8489655" cy="342436"/>
      </dsp:txXfrm>
    </dsp:sp>
    <dsp:sp modelId="{B715BE81-1D25-4B8F-AAD3-3441322CE9E3}">
      <dsp:nvSpPr>
        <dsp:cNvPr id="0" name=""/>
        <dsp:cNvSpPr/>
      </dsp:nvSpPr>
      <dsp:spPr>
        <a:xfrm>
          <a:off x="1568744" y="3342125"/>
          <a:ext cx="8489655"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UAMS supports compliance with standards like PCI and RHG by reducing manual effort and enhancing process transparency.</a:t>
          </a:r>
        </a:p>
      </dsp:txBody>
      <dsp:txXfrm>
        <a:off x="1568744" y="3342125"/>
        <a:ext cx="8489655" cy="10463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CA9A0-3D39-4FA1-B6DA-0661719984FF}">
      <dsp:nvSpPr>
        <dsp:cNvPr id="0" name=""/>
        <dsp:cNvSpPr/>
      </dsp:nvSpPr>
      <dsp:spPr>
        <a:xfrm>
          <a:off x="0" y="0"/>
          <a:ext cx="1388745" cy="138874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9639" r="23608" b="-6"/>
          <a:stretch/>
        </a:blipFill>
        <a:ln>
          <a:noFill/>
        </a:ln>
        <a:effectLst/>
      </dsp:spPr>
      <dsp:style>
        <a:lnRef idx="0">
          <a:scrgbClr r="0" g="0" b="0"/>
        </a:lnRef>
        <a:fillRef idx="3">
          <a:scrgbClr r="0" g="0" b="0"/>
        </a:fillRef>
        <a:effectRef idx="2">
          <a:scrgbClr r="0" g="0" b="0"/>
        </a:effectRef>
        <a:fontRef idx="minor">
          <a:schemeClr val="lt1"/>
        </a:fontRef>
      </dsp:style>
    </dsp:sp>
    <dsp:sp modelId="{654FAF13-47D5-4971-B33B-E8E86523A6DA}">
      <dsp:nvSpPr>
        <dsp:cNvPr id="0" name=""/>
        <dsp:cNvSpPr/>
      </dsp:nvSpPr>
      <dsp:spPr>
        <a:xfrm>
          <a:off x="1568745" y="0"/>
          <a:ext cx="8489654"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System Setup and Configuration</a:t>
          </a:r>
        </a:p>
      </dsp:txBody>
      <dsp:txXfrm>
        <a:off x="1568745" y="0"/>
        <a:ext cx="8489654" cy="342436"/>
      </dsp:txXfrm>
    </dsp:sp>
    <dsp:sp modelId="{06F044ED-1CB3-4180-9B53-BA3DE40A3BC2}">
      <dsp:nvSpPr>
        <dsp:cNvPr id="0" name=""/>
        <dsp:cNvSpPr/>
      </dsp:nvSpPr>
      <dsp:spPr>
        <a:xfrm>
          <a:off x="1568745" y="342436"/>
          <a:ext cx="8489654"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Organizations install and configure UAMS, set up user accounts, and define system parameters for initial deployment.</a:t>
          </a:r>
        </a:p>
      </dsp:txBody>
      <dsp:txXfrm>
        <a:off x="1568745" y="342436"/>
        <a:ext cx="8489654" cy="1046308"/>
      </dsp:txXfrm>
    </dsp:sp>
    <dsp:sp modelId="{50FBF48A-DE79-49D9-A059-A1128F6DE941}">
      <dsp:nvSpPr>
        <dsp:cNvPr id="0" name=""/>
        <dsp:cNvSpPr/>
      </dsp:nvSpPr>
      <dsp:spPr>
        <a:xfrm>
          <a:off x="0" y="1499844"/>
          <a:ext cx="1388745" cy="138874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0129" r="14868" b="-3"/>
          <a:stretch/>
        </a:blipFill>
        <a:ln>
          <a:noFill/>
        </a:ln>
        <a:effectLst/>
      </dsp:spPr>
      <dsp:style>
        <a:lnRef idx="0">
          <a:scrgbClr r="0" g="0" b="0"/>
        </a:lnRef>
        <a:fillRef idx="3">
          <a:scrgbClr r="0" g="0" b="0"/>
        </a:fillRef>
        <a:effectRef idx="2">
          <a:scrgbClr r="0" g="0" b="0"/>
        </a:effectRef>
        <a:fontRef idx="minor">
          <a:schemeClr val="lt1"/>
        </a:fontRef>
      </dsp:style>
    </dsp:sp>
    <dsp:sp modelId="{7E6C6FAD-9094-4637-866B-2FBAA278ACE5}">
      <dsp:nvSpPr>
        <dsp:cNvPr id="0" name=""/>
        <dsp:cNvSpPr/>
      </dsp:nvSpPr>
      <dsp:spPr>
        <a:xfrm>
          <a:off x="1568745" y="1499844"/>
          <a:ext cx="8489654"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Data Import and Access Documentation</a:t>
          </a:r>
        </a:p>
      </dsp:txBody>
      <dsp:txXfrm>
        <a:off x="1568745" y="1499844"/>
        <a:ext cx="8489654" cy="342436"/>
      </dsp:txXfrm>
    </dsp:sp>
    <dsp:sp modelId="{581BB29B-5BB4-4298-BA9D-8A13FDEE686E}">
      <dsp:nvSpPr>
        <dsp:cNvPr id="0" name=""/>
        <dsp:cNvSpPr/>
      </dsp:nvSpPr>
      <dsp:spPr>
        <a:xfrm>
          <a:off x="1568745" y="1842280"/>
          <a:ext cx="8489654"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Import existing user and system data, document access rights, and link system approvals to maintain accurate records.</a:t>
          </a:r>
        </a:p>
      </dsp:txBody>
      <dsp:txXfrm>
        <a:off x="1568745" y="1842280"/>
        <a:ext cx="8489654" cy="1046308"/>
      </dsp:txXfrm>
    </dsp:sp>
    <dsp:sp modelId="{FC911AA0-7069-43A8-AA6A-137DA8058FF9}">
      <dsp:nvSpPr>
        <dsp:cNvPr id="0" name=""/>
        <dsp:cNvSpPr/>
      </dsp:nvSpPr>
      <dsp:spPr>
        <a:xfrm>
          <a:off x="0" y="2999689"/>
          <a:ext cx="1388744" cy="138874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7450" r="25796" b="-6"/>
          <a:stretch/>
        </a:blipFill>
        <a:ln>
          <a:noFill/>
        </a:ln>
        <a:effectLst/>
      </dsp:spPr>
      <dsp:style>
        <a:lnRef idx="0">
          <a:scrgbClr r="0" g="0" b="0"/>
        </a:lnRef>
        <a:fillRef idx="3">
          <a:scrgbClr r="0" g="0" b="0"/>
        </a:fillRef>
        <a:effectRef idx="2">
          <a:scrgbClr r="0" g="0" b="0"/>
        </a:effectRef>
        <a:fontRef idx="minor">
          <a:schemeClr val="lt1"/>
        </a:fontRef>
      </dsp:style>
    </dsp:sp>
    <dsp:sp modelId="{4CC5A602-D7AE-451C-8071-14809D043783}">
      <dsp:nvSpPr>
        <dsp:cNvPr id="0" name=""/>
        <dsp:cNvSpPr/>
      </dsp:nvSpPr>
      <dsp:spPr>
        <a:xfrm>
          <a:off x="1568744" y="2999689"/>
          <a:ext cx="8489655" cy="342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Review Scheduling and Reporting</a:t>
          </a:r>
        </a:p>
      </dsp:txBody>
      <dsp:txXfrm>
        <a:off x="1568744" y="2999689"/>
        <a:ext cx="8489655" cy="342436"/>
      </dsp:txXfrm>
    </dsp:sp>
    <dsp:sp modelId="{CD39BDCE-0AB3-4D6F-931C-72792083FDCD}">
      <dsp:nvSpPr>
        <dsp:cNvPr id="0" name=""/>
        <dsp:cNvSpPr/>
      </dsp:nvSpPr>
      <dsp:spPr>
        <a:xfrm>
          <a:off x="1568744" y="3342125"/>
          <a:ext cx="8489655" cy="10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Schedule quarterly reviews to ensure compliance and generate detailed reports for auditing and accountability.</a:t>
          </a:r>
        </a:p>
      </dsp:txBody>
      <dsp:txXfrm>
        <a:off x="1568744" y="3342125"/>
        <a:ext cx="8489655" cy="104630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12/7/2025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122698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Overview of UAMS, Importance of PCI &amp; RHG Compliance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839469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The User Access Management System (UAMS) is designed as a compliance tracking and documentation platform that ensures organizations meet stringent security standards. It does not enforce security policies directly but provides a centralized mechanism to track and document compliance across multiple systems such as Active Directory, PMS, and POS. UAMS helps organizations prove to auditors that security policies are being followed by monitoring user accounts, documenting evidence, and generating reports. This system is critical for organizations that need to maintain compliance with PCI and RHG standards, as it reduces manual effort, minimizes errors, and provides transparency in access management processes.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188964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PCI (Payment Card Industry) standards govern the security of credit card data, requiring strict access controls and annual compliance audits. RHG refers to company-specific access control policies that include seven key audit requirements. Compliance with these standards is essential to protect sensitive data, pass security audits, meet regulatory requirements, and avoid penalties or fines. Organizations that fail to comply risk data breaches, reputational damage, and financial losses. UAMS plays a pivotal role in ensuring compliance by providing evidence-based tracking and centralized visibility across systems.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680906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The Seven RHG Audit Requirements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045551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Auditors check seven critical requirements under RHG policies: unique user IDs, secure service account passwords, limited administrator access, approved change management, quarterly permission reviews, approved access only, and removal of default accounts. Each requirement ensures that user access is controlled, documented, and verified regularly. UAMS addresses these requirements by providing automated tracking, alerts, and comprehensive reporting. By meeting these standards, organizations can demonstrate compliance and maintain a strong security posture.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77830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Requirement 4.1: Unique User Accounts, Requirement 4.2: Service Account Security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835825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Generic accounts pose significant security risks because they lack accountability and traceability. Auditors require proof that each employee has a unique username across all systems, no shared accounts exist, and password settings align with RHG policies. UAMS helps by tracking usernames, flagging generic accounts, and documenting remediation. It also provides cross-system views, uniqueness verification, and policy drift monitoring to ensure compliance. For example, an employee like John Doe would have consistent usernames across AD, PMS, and POS, with verified password policies.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642685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Service accounts require special attention because they often have elevated privileges. Auditors expect documentation of all service accounts, regular password changes, ownership assignment, and proof of compliance. UAMS provides a service account registry, password tracking, ownership linkage, and attestation workflows. It also offers compliance reports and alerts for overdue password changes. For instance, a service account for PMS backup would include details like owner, last password change date, and compliance status.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019916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Core Features of UAMS, Benefits for Stakeholders
</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722096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UAMS offers a centralized dashboard for compliance tracking, cross-system visibility, complete audit trails, automated alerts, and comprehensive reporting. These features enable organizations to monitor compliance status, detect discrepancies, and prepare for audits efficiently. Reports can be exported in multiple formats, including Excel, PDF, and CSV, making it easy to share evidence with auditors. Automated alerts for password rotations and overdue reviews further enhance compliance readiness.
</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159447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For IT administrators, UAMS saves time through centralized tracking and automated alerts. Management benefits from reduced security risks and easier audit preparation. Auditors gain access to clear, organized evidence and complete audit trails. Overall, organizations improve their security posture, reduce the risk of data breaches, and maintain compliance confidence. These benefits translate into faster audit preparation, improved review completion rates, and enhanced operational efficiency.
</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3848713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Getting Started with UAMS, Roadmap for Optimization
</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1792423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Implementing UAMS involves several steps: system setup, data import, access documentation, review scheduling, and report generation. Organizations begin by installing and configuring UAMS, setting up user accounts, and defining systems. Next, they import existing user and system data, document current access, and link approvals. Quarterly reviews are scheduled to maintain compliance, and reports are generated for auditors. This structured approach ensures smooth adoption and effective compliance tracking.
</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952058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https://carlsonrezidor-my.sharepoint.com/personal/abdelmanem_samy_radissonblu_com/Documents/Microsoft%20Copilot%20Chat%20Files/PRESENTATION_PCI_RHG_COMPLIANCE.html
The implementation roadmap includes four phases: foundation, data migration, integration, and optimization. Initial phases focus on system installation and data import, while later phases involve staff training, workflow integration, and alert configuration. Continuous optimization ensures processes are refined, integrations added, and reporting enhanced. This roadmap helps organizations achieve long-term compliance success and adapt to evolving security requirements.
</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181722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12/7/2025</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12/7/2025</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12/7/2025</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12/7/2025</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12/7/2025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12/7/2025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12/7/2025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12/7/2025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12/7/2025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12/7/2025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12/7/2025</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12/7/2025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12/7/2025</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12/7/2025</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12/7/2025</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12/7/2025</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12/7/2025</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12/7/2025</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12/7/2025</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12/7/2025</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12/7/2025</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12/7/2025</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12/7/2025</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12/7/2025</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12/7/2025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12/7/2025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12/7/2025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12/7/2025</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12/7/2025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12/7/2025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12/7/2025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12/7/2025</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12/7/2025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12/7/2025</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12/7/2025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12/7/2025</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12/7/2025</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12/7/2025</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12/7/2025</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12/7/2025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12/7/2025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12/7/2025</a:t>
            </a:fld>
            <a:endParaRPr lang="en-US" dirty="0"/>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7DC29-C88B-7D77-C4E5-13928CB321C7}"/>
              </a:ext>
            </a:extLst>
          </p:cNvPr>
          <p:cNvSpPr>
            <a:spLocks noGrp="1"/>
          </p:cNvSpPr>
          <p:nvPr>
            <p:ph type="title"/>
          </p:nvPr>
        </p:nvSpPr>
        <p:spPr>
          <a:xfrm>
            <a:off x="1200912" y="4597404"/>
            <a:ext cx="9784077" cy="980435"/>
          </a:xfrm>
        </p:spPr>
        <p:txBody>
          <a:bodyPr anchor="b">
            <a:normAutofit/>
          </a:bodyPr>
          <a:lstStyle/>
          <a:p>
            <a:pPr>
              <a:lnSpc>
                <a:spcPct val="90000"/>
              </a:lnSpc>
            </a:pPr>
            <a:r>
              <a:rPr lang="en-US" sz="3700"/>
              <a:t>UAMS - PCI &amp; RHG Security Compliance</a:t>
            </a:r>
          </a:p>
        </p:txBody>
      </p:sp>
      <p:sp>
        <p:nvSpPr>
          <p:cNvPr id="4" name="Footer Placeholder 3">
            <a:extLst>
              <a:ext uri="{FF2B5EF4-FFF2-40B4-BE49-F238E27FC236}">
                <a16:creationId xmlns:a16="http://schemas.microsoft.com/office/drawing/2014/main" id="{230343DE-173F-C398-1FA0-95B528C10357}"/>
              </a:ext>
            </a:extLst>
          </p:cNvPr>
          <p:cNvSpPr>
            <a:spLocks noGrp="1"/>
          </p:cNvSpPr>
          <p:nvPr>
            <p:ph type="ftr" sz="quarter" idx="15"/>
          </p:nvPr>
        </p:nvSpPr>
        <p:spPr>
          <a:xfrm rot="16200000">
            <a:off x="-1005840" y="1525384"/>
            <a:ext cx="2805405" cy="365125"/>
          </a:xfrm>
        </p:spPr>
        <p:txBody>
          <a:bodyPr anchor="ctr">
            <a:normAutofit/>
          </a:bodyPr>
          <a:lstStyle/>
          <a:p>
            <a:pPr>
              <a:spcAft>
                <a:spcPts val="600"/>
              </a:spcAft>
            </a:pPr>
            <a:r>
              <a:rPr lang="en-US"/>
              <a:t>SAMPLE FOOTER TEXT</a:t>
            </a:r>
          </a:p>
        </p:txBody>
      </p:sp>
      <p:sp>
        <p:nvSpPr>
          <p:cNvPr id="3" name="Subtitle 2">
            <a:extLst>
              <a:ext uri="{FF2B5EF4-FFF2-40B4-BE49-F238E27FC236}">
                <a16:creationId xmlns:a16="http://schemas.microsoft.com/office/drawing/2014/main" id="{1160EB6B-65E9-6822-949E-98FB3DE9EFF0}"/>
              </a:ext>
            </a:extLst>
          </p:cNvPr>
          <p:cNvSpPr>
            <a:spLocks noGrp="1"/>
          </p:cNvSpPr>
          <p:nvPr>
            <p:ph type="body" sz="quarter" idx="17"/>
          </p:nvPr>
        </p:nvSpPr>
        <p:spPr>
          <a:xfrm>
            <a:off x="1207008" y="5668963"/>
            <a:ext cx="9784842" cy="639762"/>
          </a:xfrm>
        </p:spPr>
        <p:txBody>
          <a:bodyPr>
            <a:normAutofit/>
          </a:bodyPr>
          <a:lstStyle/>
          <a:p>
            <a:r>
              <a:rPr lang="en-US"/>
              <a:t>Ensuring robust protection and regulatory adherence</a:t>
            </a:r>
          </a:p>
        </p:txBody>
      </p:sp>
      <p:pic>
        <p:nvPicPr>
          <p:cNvPr id="6" name="Picture 5" descr="Transparent padlock">
            <a:extLst>
              <a:ext uri="{FF2B5EF4-FFF2-40B4-BE49-F238E27FC236}">
                <a16:creationId xmlns:a16="http://schemas.microsoft.com/office/drawing/2014/main" id="{19F5D7AB-246A-46CF-A9C3-F8A0899EBF18}"/>
              </a:ext>
            </a:extLst>
          </p:cNvPr>
          <p:cNvPicPr>
            <a:picLocks noChangeAspect="1"/>
          </p:cNvPicPr>
          <p:nvPr/>
        </p:nvPicPr>
        <p:blipFill>
          <a:blip r:embed="rId3"/>
          <a:srcRect t="27571" r="1" b="17040"/>
          <a:stretch>
            <a:fillRect/>
          </a:stretch>
        </p:blipFill>
        <p:spPr>
          <a:xfrm>
            <a:off x="808258" y="404999"/>
            <a:ext cx="10575485" cy="3836802"/>
          </a:xfrm>
          <a:prstGeom prst="rect">
            <a:avLst/>
          </a:prstGeom>
          <a:noFill/>
        </p:spPr>
      </p:pic>
      <p:sp>
        <p:nvSpPr>
          <p:cNvPr id="5" name="Slide Number Placeholder 4">
            <a:extLst>
              <a:ext uri="{FF2B5EF4-FFF2-40B4-BE49-F238E27FC236}">
                <a16:creationId xmlns:a16="http://schemas.microsoft.com/office/drawing/2014/main" id="{C233ABD3-59FB-05E7-79F0-559C388F5D95}"/>
              </a:ext>
            </a:extLst>
          </p:cNvPr>
          <p:cNvSpPr>
            <a:spLocks noGrp="1"/>
          </p:cNvSpPr>
          <p:nvPr>
            <p:ph type="sldNum" sz="quarter" idx="16"/>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286385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2869-EF51-6040-510C-211DF73EEEDD}"/>
              </a:ext>
            </a:extLst>
          </p:cNvPr>
          <p:cNvSpPr>
            <a:spLocks noGrp="1"/>
          </p:cNvSpPr>
          <p:nvPr>
            <p:ph type="ctrTitle"/>
          </p:nvPr>
        </p:nvSpPr>
        <p:spPr>
          <a:xfrm>
            <a:off x="4130040" y="1645920"/>
            <a:ext cx="3931920" cy="3566160"/>
          </a:xfrm>
        </p:spPr>
        <p:txBody>
          <a:bodyPr anchor="ctr">
            <a:normAutofit/>
          </a:bodyPr>
          <a:lstStyle/>
          <a:p>
            <a:pPr>
              <a:lnSpc>
                <a:spcPct val="90000"/>
              </a:lnSpc>
            </a:pPr>
            <a:r>
              <a:rPr lang="en-US" sz="4300"/>
              <a:t>Introduction to UAMS and Compliance</a:t>
            </a:r>
          </a:p>
        </p:txBody>
      </p:sp>
      <p:sp>
        <p:nvSpPr>
          <p:cNvPr id="4" name="Footer Placeholder 3">
            <a:extLst>
              <a:ext uri="{FF2B5EF4-FFF2-40B4-BE49-F238E27FC236}">
                <a16:creationId xmlns:a16="http://schemas.microsoft.com/office/drawing/2014/main" id="{58D73B67-1FA9-7A52-9704-60A06AB87B8D}"/>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0FD150A0-96F3-E0E4-4AEA-0743C925C4EA}"/>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1897918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64882-8FE2-12FB-08C8-7AA993059076}"/>
              </a:ext>
            </a:extLst>
          </p:cNvPr>
          <p:cNvSpPr>
            <a:spLocks noGrp="1"/>
          </p:cNvSpPr>
          <p:nvPr>
            <p:ph type="title"/>
          </p:nvPr>
        </p:nvSpPr>
        <p:spPr>
          <a:xfrm>
            <a:off x="1066800" y="640080"/>
            <a:ext cx="10058400" cy="731518"/>
          </a:xfrm>
        </p:spPr>
        <p:txBody>
          <a:bodyPr anchor="t">
            <a:normAutofit/>
          </a:bodyPr>
          <a:lstStyle/>
          <a:p>
            <a:r>
              <a:rPr lang="en-US"/>
              <a:t>Overview of UAMS</a:t>
            </a:r>
          </a:p>
        </p:txBody>
      </p:sp>
      <p:sp>
        <p:nvSpPr>
          <p:cNvPr id="3" name="Footer Placeholder 2">
            <a:extLst>
              <a:ext uri="{FF2B5EF4-FFF2-40B4-BE49-F238E27FC236}">
                <a16:creationId xmlns:a16="http://schemas.microsoft.com/office/drawing/2014/main" id="{265A2371-E475-62C8-7343-0CD9E36160AE}"/>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A2D5E06E-7213-C08D-E87E-A5F33F3255A6}"/>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graphicFrame>
        <p:nvGraphicFramePr>
          <p:cNvPr id="6" name="Content Placeholder 5">
            <a:extLst>
              <a:ext uri="{FF2B5EF4-FFF2-40B4-BE49-F238E27FC236}">
                <a16:creationId xmlns:a16="http://schemas.microsoft.com/office/drawing/2014/main" id="{6938A87E-0322-47B1-BF82-C5654B4DA929}"/>
              </a:ext>
            </a:extLst>
          </p:cNvPr>
          <p:cNvGraphicFramePr>
            <a:graphicFrameLocks noGrp="1"/>
          </p:cNvGraphicFramePr>
          <p:nvPr>
            <p:ph idx="1"/>
            <p:extLst>
              <p:ext uri="{D42A27DB-BD31-4B8C-83A1-F6EECF244321}">
                <p14:modId xmlns:p14="http://schemas.microsoft.com/office/powerpoint/2010/main" val="401075194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66800" y="1463040"/>
          <a:ext cx="10058400"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803422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FB38B-FE3A-5CE8-8A23-5C6473E31CB0}"/>
              </a:ext>
            </a:extLst>
          </p:cNvPr>
          <p:cNvSpPr>
            <a:spLocks noGrp="1"/>
          </p:cNvSpPr>
          <p:nvPr>
            <p:ph type="title"/>
          </p:nvPr>
        </p:nvSpPr>
        <p:spPr>
          <a:xfrm>
            <a:off x="1245108" y="786384"/>
            <a:ext cx="4023360" cy="1280160"/>
          </a:xfrm>
        </p:spPr>
        <p:txBody>
          <a:bodyPr anchor="t">
            <a:normAutofit/>
          </a:bodyPr>
          <a:lstStyle/>
          <a:p>
            <a:r>
              <a:rPr lang="en-US"/>
              <a:t>Importance of PCI &amp; RHG Compliance</a:t>
            </a:r>
          </a:p>
        </p:txBody>
      </p:sp>
      <p:sp>
        <p:nvSpPr>
          <p:cNvPr id="3" name="Footer Placeholder 2">
            <a:extLst>
              <a:ext uri="{FF2B5EF4-FFF2-40B4-BE49-F238E27FC236}">
                <a16:creationId xmlns:a16="http://schemas.microsoft.com/office/drawing/2014/main" id="{22F7BC54-8439-3194-1079-FE93FF513061}"/>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Digital concept which shows abstract network and concept of security optimization and internet technology  ">
            <a:extLst>
              <a:ext uri="{FF2B5EF4-FFF2-40B4-BE49-F238E27FC236}">
                <a16:creationId xmlns:a16="http://schemas.microsoft.com/office/drawing/2014/main" id="{17BF85A3-0157-4FDA-93A4-803849E19FBB}"/>
              </a:ext>
            </a:extLst>
          </p:cNvPr>
          <p:cNvPicPr>
            <a:picLocks noGrp="1" noChangeAspect="1"/>
          </p:cNvPicPr>
          <p:nvPr>
            <p:ph type="pic" sz="quarter" idx="13"/>
          </p:nvPr>
        </p:nvPicPr>
        <p:blipFill>
          <a:blip r:embed="rId3"/>
          <a:srcRect l="11905" r="15358" b="3"/>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DAD514EE-D000-A349-1D8F-3F9F41C8CE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PCI Security Standards</a:t>
            </a:r>
          </a:p>
          <a:p>
            <a:pPr marL="0" lvl="1" indent="0">
              <a:buFont typeface="Arial" panose="020B0604020202020204" pitchFamily="34" charset="0"/>
              <a:buNone/>
            </a:pPr>
            <a:r>
              <a:t>PCI standards enforce strict security controls to protect credit card data and mandate annual compliance audits.</a:t>
            </a:r>
            <a:endParaRPr lang="en-US"/>
          </a:p>
          <a:p>
            <a:pPr marL="0" indent="0">
              <a:spcBef>
                <a:spcPts val="2500"/>
              </a:spcBef>
              <a:buFont typeface="Arial" panose="020B0604020202020204" pitchFamily="34" charset="0"/>
              <a:buNone/>
            </a:pPr>
            <a:r>
              <a:rPr lang="en-US" b="1"/>
              <a:t>RHG Access Control Policies</a:t>
            </a:r>
          </a:p>
          <a:p>
            <a:pPr marL="0" lvl="1" indent="0">
              <a:buFont typeface="Arial" panose="020B0604020202020204" pitchFamily="34" charset="0"/>
              <a:buNone/>
            </a:pPr>
            <a:r>
              <a:t>RHG includes seven critical audit requirements focusing on company-specific access control policies and security.</a:t>
            </a:r>
            <a:endParaRPr lang="en-US"/>
          </a:p>
          <a:p>
            <a:pPr marL="0" indent="0">
              <a:spcBef>
                <a:spcPts val="2500"/>
              </a:spcBef>
              <a:buFont typeface="Arial" panose="020B0604020202020204" pitchFamily="34" charset="0"/>
              <a:buNone/>
            </a:pPr>
            <a:r>
              <a:rPr lang="en-US" b="1"/>
              <a:t>Consequences of Non-Compliance</a:t>
            </a:r>
          </a:p>
          <a:p>
            <a:pPr marL="0" lvl="1" indent="0">
              <a:buFont typeface="Arial" panose="020B0604020202020204" pitchFamily="34" charset="0"/>
              <a:buNone/>
            </a:pPr>
            <a:r>
              <a:t>Failure to comply risks data breaches, reputational damage, financial losses, and legal penalties.</a:t>
            </a:r>
            <a:endParaRPr lang="en-US"/>
          </a:p>
          <a:p>
            <a:pPr marL="0" indent="0">
              <a:spcBef>
                <a:spcPts val="2500"/>
              </a:spcBef>
              <a:buFont typeface="Arial" panose="020B0604020202020204" pitchFamily="34" charset="0"/>
              <a:buNone/>
            </a:pPr>
            <a:r>
              <a:rPr lang="en-US" b="1"/>
              <a:t>Role of UAMS</a:t>
            </a:r>
          </a:p>
          <a:p>
            <a:pPr marL="0" lvl="1" indent="0">
              <a:buFont typeface="Arial" panose="020B0604020202020204" pitchFamily="34" charset="0"/>
              <a:buNone/>
            </a:pPr>
            <a:r>
              <a:t>UAMS ensures compliance by providing evidence-based tracking and centralized visibility across systems.</a:t>
            </a:r>
            <a:endParaRPr lang="en-US"/>
          </a:p>
        </p:txBody>
      </p:sp>
      <p:sp>
        <p:nvSpPr>
          <p:cNvPr id="6" name="Slide Number Placeholder 5">
            <a:extLst>
              <a:ext uri="{FF2B5EF4-FFF2-40B4-BE49-F238E27FC236}">
                <a16:creationId xmlns:a16="http://schemas.microsoft.com/office/drawing/2014/main" id="{B41CFCEF-9E00-EDC0-A605-C05619A63518}"/>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23467112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0DB51-FFC8-640C-D2E8-287AB6CB574E}"/>
              </a:ext>
            </a:extLst>
          </p:cNvPr>
          <p:cNvSpPr>
            <a:spLocks noGrp="1"/>
          </p:cNvSpPr>
          <p:nvPr>
            <p:ph type="ctrTitle"/>
          </p:nvPr>
        </p:nvSpPr>
        <p:spPr>
          <a:xfrm>
            <a:off x="4130040" y="1645920"/>
            <a:ext cx="3931920" cy="3566160"/>
          </a:xfrm>
        </p:spPr>
        <p:txBody>
          <a:bodyPr anchor="ctr">
            <a:normAutofit/>
          </a:bodyPr>
          <a:lstStyle/>
          <a:p>
            <a:pPr>
              <a:lnSpc>
                <a:spcPct val="90000"/>
              </a:lnSpc>
            </a:pPr>
            <a:r>
              <a:rPr lang="en-US" sz="3900"/>
              <a:t>Audit Requirements and Compliance</a:t>
            </a:r>
          </a:p>
        </p:txBody>
      </p:sp>
      <p:sp>
        <p:nvSpPr>
          <p:cNvPr id="4" name="Footer Placeholder 3">
            <a:extLst>
              <a:ext uri="{FF2B5EF4-FFF2-40B4-BE49-F238E27FC236}">
                <a16:creationId xmlns:a16="http://schemas.microsoft.com/office/drawing/2014/main" id="{CE007D26-F2EB-6C0D-4A26-7DFE083FF6A1}"/>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9E374DE-E043-55C0-6E0B-A9C5E09A7470}"/>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Tree>
    <p:extLst>
      <p:ext uri="{BB962C8B-B14F-4D97-AF65-F5344CB8AC3E}">
        <p14:creationId xmlns:p14="http://schemas.microsoft.com/office/powerpoint/2010/main" val="2428136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48AE-5984-149E-4576-8E4136593716}"/>
              </a:ext>
            </a:extLst>
          </p:cNvPr>
          <p:cNvSpPr>
            <a:spLocks noGrp="1"/>
          </p:cNvSpPr>
          <p:nvPr>
            <p:ph type="title"/>
          </p:nvPr>
        </p:nvSpPr>
        <p:spPr>
          <a:xfrm>
            <a:off x="1300752" y="816615"/>
            <a:ext cx="4297680" cy="5212080"/>
          </a:xfrm>
        </p:spPr>
        <p:txBody>
          <a:bodyPr anchor="ctr">
            <a:normAutofit/>
          </a:bodyPr>
          <a:lstStyle/>
          <a:p>
            <a:r>
              <a:rPr lang="en-US"/>
              <a:t>The Seven RHG Audit Requirements</a:t>
            </a:r>
          </a:p>
        </p:txBody>
      </p:sp>
      <p:sp>
        <p:nvSpPr>
          <p:cNvPr id="3" name="Footer Placeholder 2">
            <a:extLst>
              <a:ext uri="{FF2B5EF4-FFF2-40B4-BE49-F238E27FC236}">
                <a16:creationId xmlns:a16="http://schemas.microsoft.com/office/drawing/2014/main" id="{5917CA9E-2DDD-C026-EC1E-51427465B939}"/>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B50A753-BA8F-8BC4-7FFF-261C7902939B}"/>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graphicFrame>
        <p:nvGraphicFramePr>
          <p:cNvPr id="7" name="Content Placeholder 6">
            <a:extLst>
              <a:ext uri="{FF2B5EF4-FFF2-40B4-BE49-F238E27FC236}">
                <a16:creationId xmlns:a16="http://schemas.microsoft.com/office/drawing/2014/main" id="{F637DF8C-36F2-4EF2-8876-AA372DD7647C}"/>
              </a:ext>
            </a:extLst>
          </p:cNvPr>
          <p:cNvGraphicFramePr>
            <a:graphicFrameLocks noGrp="1"/>
          </p:cNvGraphicFramePr>
          <p:nvPr>
            <p:ph sz="quarter" idx="14"/>
          </p:nvPr>
        </p:nvGraphicFramePr>
        <p:xfrm>
          <a:off x="6669488" y="2184400"/>
          <a:ext cx="4167976" cy="2468568"/>
        </p:xfrm>
        <a:graphic>
          <a:graphicData uri="http://schemas.openxmlformats.org/drawingml/2006/table">
            <a:tbl>
              <a:tblPr firstRow="1" bandRow="1">
                <a:noFill/>
                <a:tableStyleId>{5C22544A-7EE6-4342-B048-85BDC9FD1C3A}</a:tableStyleId>
              </a:tblPr>
              <a:tblGrid>
                <a:gridCol w="1579013">
                  <a:extLst>
                    <a:ext uri="{9D8B030D-6E8A-4147-A177-3AD203B41FA5}">
                      <a16:colId xmlns:a16="http://schemas.microsoft.com/office/drawing/2014/main" val="1883830220"/>
                    </a:ext>
                  </a:extLst>
                </a:gridCol>
                <a:gridCol w="1416202">
                  <a:extLst>
                    <a:ext uri="{9D8B030D-6E8A-4147-A177-3AD203B41FA5}">
                      <a16:colId xmlns:a16="http://schemas.microsoft.com/office/drawing/2014/main" val="4161813192"/>
                    </a:ext>
                  </a:extLst>
                </a:gridCol>
                <a:gridCol w="1172761">
                  <a:extLst>
                    <a:ext uri="{9D8B030D-6E8A-4147-A177-3AD203B41FA5}">
                      <a16:colId xmlns:a16="http://schemas.microsoft.com/office/drawing/2014/main" val="4110198967"/>
                    </a:ext>
                  </a:extLst>
                </a:gridCol>
              </a:tblGrid>
              <a:tr h="248770">
                <a:tc>
                  <a:txBody>
                    <a:bodyPr/>
                    <a:lstStyle/>
                    <a:p>
                      <a:pPr>
                        <a:buNone/>
                      </a:pPr>
                      <a:r>
                        <a:rPr lang="en-US" sz="700" b="1" cap="all" spc="150">
                          <a:solidFill>
                            <a:schemeClr val="tx1"/>
                          </a:solidFill>
                        </a:rPr>
                        <a:t>Requirement</a:t>
                      </a:r>
                    </a:p>
                  </a:txBody>
                  <a:tcPr marL="61509" marR="61509" marT="61509" marB="6150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700" b="1" cap="all" spc="150">
                          <a:solidFill>
                            <a:schemeClr val="tx1"/>
                          </a:solidFill>
                        </a:rPr>
                        <a:t>What It Means</a:t>
                      </a:r>
                    </a:p>
                  </a:txBody>
                  <a:tcPr marL="61509" marR="61509" marT="61509" marB="6150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700" b="1" cap="all" spc="150">
                          <a:solidFill>
                            <a:schemeClr val="tx1"/>
                          </a:solidFill>
                        </a:rPr>
                        <a:t>Status</a:t>
                      </a:r>
                    </a:p>
                  </a:txBody>
                  <a:tcPr marL="61509" marR="61509" marT="61509" marB="61509"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575144856"/>
                  </a:ext>
                </a:extLst>
              </a:tr>
              <a:tr h="317114">
                <a:tc>
                  <a:txBody>
                    <a:bodyPr/>
                    <a:lstStyle/>
                    <a:p>
                      <a:pPr>
                        <a:buNone/>
                      </a:pPr>
                      <a:r>
                        <a:rPr lang="en-US" sz="600" b="1" cap="none" spc="0">
                          <a:solidFill>
                            <a:schemeClr val="tx1"/>
                          </a:solidFill>
                        </a:rPr>
                        <a:t>4.1</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Unique User IDs - Each person has unique account</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28874578"/>
                  </a:ext>
                </a:extLst>
              </a:tr>
              <a:tr h="317114">
                <a:tc>
                  <a:txBody>
                    <a:bodyPr/>
                    <a:lstStyle/>
                    <a:p>
                      <a:pPr>
                        <a:buNone/>
                      </a:pPr>
                      <a:r>
                        <a:rPr lang="en-US" sz="600" b="1" cap="none" spc="0">
                          <a:solidFill>
                            <a:schemeClr val="tx1"/>
                          </a:solidFill>
                        </a:rPr>
                        <a:t>4.2</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Service Account Passwords - Secure passwords for service accounts</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621871132"/>
                  </a:ext>
                </a:extLst>
              </a:tr>
              <a:tr h="317114">
                <a:tc>
                  <a:txBody>
                    <a:bodyPr/>
                    <a:lstStyle/>
                    <a:p>
                      <a:pPr>
                        <a:buNone/>
                      </a:pPr>
                      <a:r>
                        <a:rPr lang="en-US" sz="600" b="1" cap="none" spc="0">
                          <a:solidFill>
                            <a:schemeClr val="tx1"/>
                          </a:solidFill>
                        </a:rPr>
                        <a:t>4.3</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Admin Access Limits - Only IT admins have admin rights</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257881838"/>
                  </a:ext>
                </a:extLst>
              </a:tr>
              <a:tr h="317114">
                <a:tc>
                  <a:txBody>
                    <a:bodyPr/>
                    <a:lstStyle/>
                    <a:p>
                      <a:pPr>
                        <a:buNone/>
                      </a:pPr>
                      <a:r>
                        <a:rPr lang="en-US" sz="600" b="1" cap="none" spc="0">
                          <a:solidFill>
                            <a:schemeClr val="tx1"/>
                          </a:solidFill>
                        </a:rPr>
                        <a:t>4.4</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Change Management - All access changes are approved</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433380993"/>
                  </a:ext>
                </a:extLst>
              </a:tr>
              <a:tr h="317114">
                <a:tc>
                  <a:txBody>
                    <a:bodyPr/>
                    <a:lstStyle/>
                    <a:p>
                      <a:pPr>
                        <a:buNone/>
                      </a:pPr>
                      <a:r>
                        <a:rPr lang="en-US" sz="600" b="1" cap="none" spc="0">
                          <a:solidFill>
                            <a:schemeClr val="tx1"/>
                          </a:solidFill>
                        </a:rPr>
                        <a:t>4.5</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Permission Reviews - Quarterly reviews of user permissions</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05342743"/>
                  </a:ext>
                </a:extLst>
              </a:tr>
              <a:tr h="317114">
                <a:tc>
                  <a:txBody>
                    <a:bodyPr/>
                    <a:lstStyle/>
                    <a:p>
                      <a:pPr>
                        <a:buNone/>
                      </a:pPr>
                      <a:r>
                        <a:rPr lang="en-US" sz="600" b="1" cap="none" spc="0">
                          <a:solidFill>
                            <a:schemeClr val="tx1"/>
                          </a:solidFill>
                        </a:rPr>
                        <a:t>4.6</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Approved Access Only - Employees only have approved access</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206198502"/>
                  </a:ext>
                </a:extLst>
              </a:tr>
              <a:tr h="317114">
                <a:tc>
                  <a:txBody>
                    <a:bodyPr/>
                    <a:lstStyle/>
                    <a:p>
                      <a:pPr>
                        <a:buNone/>
                      </a:pPr>
                      <a:r>
                        <a:rPr lang="en-US" sz="600" b="1" cap="none" spc="0">
                          <a:solidFill>
                            <a:schemeClr val="tx1"/>
                          </a:solidFill>
                        </a:rPr>
                        <a:t>4.7</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600" cap="none" spc="0">
                          <a:solidFill>
                            <a:schemeClr val="tx1"/>
                          </a:solidFill>
                        </a:rPr>
                        <a:t>Default Accounts - Factory default accounts are removed/changed</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600" cap="none" spc="0">
                          <a:solidFill>
                            <a:schemeClr val="tx1"/>
                          </a:solidFill>
                        </a:rPr>
                        <a:t>✅ Complete</a:t>
                      </a:r>
                    </a:p>
                  </a:txBody>
                  <a:tcPr marL="61509" marR="61509" marT="61509" marB="6150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476275674"/>
                  </a:ext>
                </a:extLst>
              </a:tr>
            </a:tbl>
          </a:graphicData>
        </a:graphic>
      </p:graphicFrame>
    </p:spTree>
    <p:extLst>
      <p:ext uri="{BB962C8B-B14F-4D97-AF65-F5344CB8AC3E}">
        <p14:creationId xmlns:p14="http://schemas.microsoft.com/office/powerpoint/2010/main" val="26822658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30C83-2559-5B46-A02D-FBFB7377DAD7}"/>
              </a:ext>
            </a:extLst>
          </p:cNvPr>
          <p:cNvSpPr>
            <a:spLocks noGrp="1"/>
          </p:cNvSpPr>
          <p:nvPr>
            <p:ph type="ctrTitle"/>
          </p:nvPr>
        </p:nvSpPr>
        <p:spPr>
          <a:xfrm>
            <a:off x="4130040" y="1645920"/>
            <a:ext cx="3931920" cy="3566160"/>
          </a:xfrm>
        </p:spPr>
        <p:txBody>
          <a:bodyPr anchor="ctr">
            <a:normAutofit/>
          </a:bodyPr>
          <a:lstStyle/>
          <a:p>
            <a:r>
              <a:rPr lang="en-US" sz="3900"/>
              <a:t>Detailed Requirements</a:t>
            </a:r>
          </a:p>
        </p:txBody>
      </p:sp>
      <p:sp>
        <p:nvSpPr>
          <p:cNvPr id="4" name="Footer Placeholder 3">
            <a:extLst>
              <a:ext uri="{FF2B5EF4-FFF2-40B4-BE49-F238E27FC236}">
                <a16:creationId xmlns:a16="http://schemas.microsoft.com/office/drawing/2014/main" id="{7C1D4D18-5251-6389-ED16-31E917C2E985}"/>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A3A1316-6B81-3EB8-5911-7FF20CB3B6B1}"/>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Tree>
    <p:extLst>
      <p:ext uri="{BB962C8B-B14F-4D97-AF65-F5344CB8AC3E}">
        <p14:creationId xmlns:p14="http://schemas.microsoft.com/office/powerpoint/2010/main" val="2487831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148EA-5BBD-AA25-87D0-D5BEB92A6F7B}"/>
              </a:ext>
            </a:extLst>
          </p:cNvPr>
          <p:cNvSpPr>
            <a:spLocks noGrp="1"/>
          </p:cNvSpPr>
          <p:nvPr>
            <p:ph type="title"/>
          </p:nvPr>
        </p:nvSpPr>
        <p:spPr>
          <a:xfrm>
            <a:off x="1060704" y="603504"/>
            <a:ext cx="10058400" cy="1132258"/>
          </a:xfrm>
        </p:spPr>
        <p:txBody>
          <a:bodyPr anchor="t">
            <a:normAutofit/>
          </a:bodyPr>
          <a:lstStyle/>
          <a:p>
            <a:r>
              <a:rPr lang="en-US" sz="3700"/>
              <a:t>Requirement 4.1: Unique User Accounts</a:t>
            </a:r>
          </a:p>
        </p:txBody>
      </p:sp>
      <p:sp>
        <p:nvSpPr>
          <p:cNvPr id="3" name="Footer Placeholder 2">
            <a:extLst>
              <a:ext uri="{FF2B5EF4-FFF2-40B4-BE49-F238E27FC236}">
                <a16:creationId xmlns:a16="http://schemas.microsoft.com/office/drawing/2014/main" id="{96518207-63B3-8AC6-724A-4F0D6005BE95}"/>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Personal Cyber  People Security 3d background">
            <a:extLst>
              <a:ext uri="{FF2B5EF4-FFF2-40B4-BE49-F238E27FC236}">
                <a16:creationId xmlns:a16="http://schemas.microsoft.com/office/drawing/2014/main" id="{5EA6A4FC-7974-4316-83D2-BBFF78772FFE}"/>
              </a:ext>
            </a:extLst>
          </p:cNvPr>
          <p:cNvPicPr>
            <a:picLocks noGrp="1" noChangeAspect="1"/>
          </p:cNvPicPr>
          <p:nvPr>
            <p:ph sz="quarter" idx="15"/>
          </p:nvPr>
        </p:nvPicPr>
        <p:blipFill>
          <a:blip r:embed="rId3"/>
          <a:srcRect l="15450" r="2352" b="-3"/>
          <a:stretch>
            <a:fillRect/>
          </a:stretch>
        </p:blipFill>
        <p:spPr>
          <a:xfrm>
            <a:off x="1060450" y="1828800"/>
            <a:ext cx="4768850" cy="4351338"/>
          </a:xfrm>
          <a:prstGeom prst="rect">
            <a:avLst/>
          </a:prstGeom>
          <a:noFill/>
        </p:spPr>
      </p:pic>
      <p:sp>
        <p:nvSpPr>
          <p:cNvPr id="5" name="Content Placeholder 4">
            <a:extLst>
              <a:ext uri="{FF2B5EF4-FFF2-40B4-BE49-F238E27FC236}">
                <a16:creationId xmlns:a16="http://schemas.microsoft.com/office/drawing/2014/main" id="{80E483DE-3516-40DE-D3D1-C672EDE4A230}"/>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63391" y="1828800"/>
            <a:ext cx="4755712" cy="4351338"/>
          </a:xfrm>
        </p:spPr>
        <p:txBody>
          <a:bodyPr>
            <a:normAutofit/>
          </a:bodyPr>
          <a:lstStyle/>
          <a:p>
            <a:pPr marL="0" indent="0">
              <a:spcBef>
                <a:spcPts val="2500"/>
              </a:spcBef>
              <a:buFont typeface="Arial" panose="020B0604020202020204" pitchFamily="34" charset="0"/>
              <a:buNone/>
            </a:pPr>
            <a:r>
              <a:rPr lang="en-US" b="1"/>
              <a:t>Risks of Generic Accounts</a:t>
            </a:r>
          </a:p>
          <a:p>
            <a:pPr marL="0" lvl="1" indent="0">
              <a:buFont typeface="Arial" panose="020B0604020202020204" pitchFamily="34" charset="0"/>
              <a:buNone/>
            </a:pPr>
            <a:r>
              <a:t>Generic accounts reduce accountability and traceability, increasing security risks within organizations.</a:t>
            </a:r>
            <a:endParaRPr lang="en-US"/>
          </a:p>
          <a:p>
            <a:pPr marL="0" indent="0">
              <a:spcBef>
                <a:spcPts val="2500"/>
              </a:spcBef>
              <a:buFont typeface="Arial" panose="020B0604020202020204" pitchFamily="34" charset="0"/>
              <a:buNone/>
            </a:pPr>
            <a:r>
              <a:rPr lang="en-US" b="1"/>
              <a:t>Unique Username Requirement</a:t>
            </a:r>
          </a:p>
          <a:p>
            <a:pPr marL="0" lvl="1" indent="0">
              <a:buFont typeface="Arial" panose="020B0604020202020204" pitchFamily="34" charset="0"/>
              <a:buNone/>
            </a:pPr>
            <a:r>
              <a:t>Auditors require proof that every employee has a unique username across all systems without shared accounts.</a:t>
            </a:r>
            <a:endParaRPr lang="en-US"/>
          </a:p>
          <a:p>
            <a:pPr marL="0" indent="0">
              <a:spcBef>
                <a:spcPts val="2500"/>
              </a:spcBef>
              <a:buFont typeface="Arial" panose="020B0604020202020204" pitchFamily="34" charset="0"/>
              <a:buNone/>
            </a:pPr>
            <a:r>
              <a:rPr lang="en-US" b="1"/>
              <a:t>UAMS Compliance Features</a:t>
            </a:r>
          </a:p>
          <a:p>
            <a:pPr marL="0" lvl="1" indent="0">
              <a:buFont typeface="Arial" panose="020B0604020202020204" pitchFamily="34" charset="0"/>
              <a:buNone/>
            </a:pPr>
            <a:r>
              <a:t>UAMS tracks usernames, flags generic accounts, verifies uniqueness, and monitors password policy compliance.</a:t>
            </a:r>
            <a:endParaRPr lang="en-US"/>
          </a:p>
        </p:txBody>
      </p:sp>
      <p:sp>
        <p:nvSpPr>
          <p:cNvPr id="6" name="Slide Number Placeholder 5">
            <a:extLst>
              <a:ext uri="{FF2B5EF4-FFF2-40B4-BE49-F238E27FC236}">
                <a16:creationId xmlns:a16="http://schemas.microsoft.com/office/drawing/2014/main" id="{732CEF16-F5AF-31AE-4868-F33F27880EF3}"/>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8</a:t>
            </a:fld>
            <a:endParaRPr lang="en-US"/>
          </a:p>
        </p:txBody>
      </p:sp>
    </p:spTree>
    <p:extLst>
      <p:ext uri="{BB962C8B-B14F-4D97-AF65-F5344CB8AC3E}">
        <p14:creationId xmlns:p14="http://schemas.microsoft.com/office/powerpoint/2010/main" val="55675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99B28-5915-C7F9-6FF8-68C5A3E77C84}"/>
              </a:ext>
            </a:extLst>
          </p:cNvPr>
          <p:cNvSpPr>
            <a:spLocks noGrp="1"/>
          </p:cNvSpPr>
          <p:nvPr>
            <p:ph type="title"/>
          </p:nvPr>
        </p:nvSpPr>
        <p:spPr>
          <a:xfrm>
            <a:off x="1207008" y="786384"/>
            <a:ext cx="7772400" cy="914400"/>
          </a:xfrm>
        </p:spPr>
        <p:txBody>
          <a:bodyPr anchor="b">
            <a:normAutofit/>
          </a:bodyPr>
          <a:lstStyle/>
          <a:p>
            <a:pPr>
              <a:lnSpc>
                <a:spcPct val="90000"/>
              </a:lnSpc>
            </a:pPr>
            <a:r>
              <a:rPr lang="en-US" sz="3000"/>
              <a:t>Requirement 4.2: Service Account Security</a:t>
            </a:r>
          </a:p>
        </p:txBody>
      </p:sp>
      <p:sp>
        <p:nvSpPr>
          <p:cNvPr id="3" name="Footer Placeholder 2">
            <a:extLst>
              <a:ext uri="{FF2B5EF4-FFF2-40B4-BE49-F238E27FC236}">
                <a16:creationId xmlns:a16="http://schemas.microsoft.com/office/drawing/2014/main" id="{8081A8B4-BCB5-792B-86D0-C29EB0B7B7A3}"/>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Content Placeholder 4">
            <a:extLst>
              <a:ext uri="{FF2B5EF4-FFF2-40B4-BE49-F238E27FC236}">
                <a16:creationId xmlns:a16="http://schemas.microsoft.com/office/drawing/2014/main" id="{F8FEE9DC-A637-7F86-B44F-8837D1CBC26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07008" y="1828800"/>
            <a:ext cx="7772400" cy="4206240"/>
          </a:xfrm>
        </p:spPr>
        <p:txBody>
          <a:bodyPr>
            <a:normAutofit/>
          </a:bodyPr>
          <a:lstStyle/>
          <a:p>
            <a:pPr marL="0" indent="0">
              <a:spcBef>
                <a:spcPts val="2500"/>
              </a:spcBef>
              <a:buFont typeface="Arial" panose="020B0604020202020204" pitchFamily="34" charset="0"/>
              <a:buNone/>
            </a:pPr>
            <a:r>
              <a:rPr lang="en-US" b="1"/>
              <a:t>Elevated Privileges Importance</a:t>
            </a:r>
          </a:p>
          <a:p>
            <a:pPr marL="0" lvl="1" indent="0">
              <a:buFont typeface="Arial" panose="020B0604020202020204" pitchFamily="34" charset="0"/>
              <a:buNone/>
            </a:pPr>
            <a:r>
              <a:t>Service accounts have elevated privileges requiring special security measures to prevent unauthorized access.</a:t>
            </a:r>
            <a:endParaRPr lang="en-US"/>
          </a:p>
          <a:p>
            <a:pPr marL="0" indent="0">
              <a:spcBef>
                <a:spcPts val="2500"/>
              </a:spcBef>
              <a:buFont typeface="Arial" panose="020B0604020202020204" pitchFamily="34" charset="0"/>
              <a:buNone/>
            </a:pPr>
            <a:r>
              <a:rPr lang="en-US" b="1"/>
              <a:t>Audit and Documentation</a:t>
            </a:r>
          </a:p>
          <a:p>
            <a:pPr marL="0" lvl="1" indent="0">
              <a:buFont typeface="Arial" panose="020B0604020202020204" pitchFamily="34" charset="0"/>
              <a:buNone/>
            </a:pPr>
            <a:r>
              <a:t>Auditors require documented service accounts, ownership details, and regular password updates for compliance.</a:t>
            </a:r>
            <a:endParaRPr lang="en-US"/>
          </a:p>
          <a:p>
            <a:pPr marL="0" indent="0">
              <a:spcBef>
                <a:spcPts val="2500"/>
              </a:spcBef>
              <a:buFont typeface="Arial" panose="020B0604020202020204" pitchFamily="34" charset="0"/>
              <a:buNone/>
            </a:pPr>
            <a:r>
              <a:rPr lang="en-US" b="1"/>
              <a:t>UAMS Features</a:t>
            </a:r>
          </a:p>
          <a:p>
            <a:pPr marL="0" lvl="1" indent="0">
              <a:buFont typeface="Arial" panose="020B0604020202020204" pitchFamily="34" charset="0"/>
              <a:buNone/>
            </a:pPr>
            <a:r>
              <a:t>UAMS offers registry, password tracking, ownership linkage, attestation workflows, and compliance alerts for service accounts.</a:t>
            </a:r>
            <a:endParaRPr lang="en-US"/>
          </a:p>
          <a:p>
            <a:pPr marL="0" indent="0">
              <a:spcBef>
                <a:spcPts val="2500"/>
              </a:spcBef>
              <a:buFont typeface="Arial" panose="020B0604020202020204" pitchFamily="34" charset="0"/>
              <a:buNone/>
            </a:pPr>
            <a:r>
              <a:rPr lang="en-US" b="1"/>
              <a:t>Example: PMS Backup Account</a:t>
            </a:r>
          </a:p>
          <a:p>
            <a:pPr marL="0" lvl="1" indent="0">
              <a:buFont typeface="Arial" panose="020B0604020202020204" pitchFamily="34" charset="0"/>
              <a:buNone/>
            </a:pPr>
            <a:r>
              <a:t>A PMS backup service account includes owner info, last password change date, and compliance status for auditing.</a:t>
            </a:r>
            <a:endParaRPr lang="en-US"/>
          </a:p>
        </p:txBody>
      </p:sp>
      <p:pic>
        <p:nvPicPr>
          <p:cNvPr id="7" name="Content Placeholder 6" descr="Internet Cyber Security  with lock">
            <a:extLst>
              <a:ext uri="{FF2B5EF4-FFF2-40B4-BE49-F238E27FC236}">
                <a16:creationId xmlns:a16="http://schemas.microsoft.com/office/drawing/2014/main" id="{52BD968C-4857-47E3-8316-9B0D4BA60469}"/>
              </a:ext>
            </a:extLst>
          </p:cNvPr>
          <p:cNvPicPr>
            <a:picLocks noGrp="1" noChangeAspect="1"/>
          </p:cNvPicPr>
          <p:nvPr>
            <p:ph type="pic" sz="quarter" idx="13"/>
          </p:nvPr>
        </p:nvPicPr>
        <p:blipFill>
          <a:blip r:embed="rId3"/>
          <a:srcRect l="33537" r="40629" b="-1"/>
          <a:stretch>
            <a:fillRect/>
          </a:stretch>
        </p:blipFill>
        <p:spPr>
          <a:xfrm>
            <a:off x="9287478" y="393289"/>
            <a:ext cx="2084255" cy="6051054"/>
          </a:xfrm>
          <a:prstGeom prst="rect">
            <a:avLst/>
          </a:prstGeom>
          <a:noFill/>
        </p:spPr>
      </p:pic>
      <p:sp>
        <p:nvSpPr>
          <p:cNvPr id="6" name="Slide Number Placeholder 5">
            <a:extLst>
              <a:ext uri="{FF2B5EF4-FFF2-40B4-BE49-F238E27FC236}">
                <a16:creationId xmlns:a16="http://schemas.microsoft.com/office/drawing/2014/main" id="{96517C7A-E644-1611-2225-782F7A86B1D7}"/>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spTree>
    <p:extLst>
      <p:ext uri="{BB962C8B-B14F-4D97-AF65-F5344CB8AC3E}">
        <p14:creationId xmlns:p14="http://schemas.microsoft.com/office/powerpoint/2010/main" val="33418743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F8E13-3E07-3CA7-3DBE-ED9D325B3F84}"/>
              </a:ext>
            </a:extLst>
          </p:cNvPr>
          <p:cNvSpPr>
            <a:spLocks noGrp="1"/>
          </p:cNvSpPr>
          <p:nvPr>
            <p:ph type="ctrTitle"/>
          </p:nvPr>
        </p:nvSpPr>
        <p:spPr>
          <a:xfrm>
            <a:off x="4130040" y="1645920"/>
            <a:ext cx="3931920" cy="3566160"/>
          </a:xfrm>
        </p:spPr>
        <p:txBody>
          <a:bodyPr anchor="ctr">
            <a:normAutofit/>
          </a:bodyPr>
          <a:lstStyle/>
          <a:p>
            <a:r>
              <a:rPr lang="en-US"/>
              <a:t>Key Features and Benefits</a:t>
            </a:r>
          </a:p>
        </p:txBody>
      </p:sp>
      <p:sp>
        <p:nvSpPr>
          <p:cNvPr id="4" name="Footer Placeholder 3">
            <a:extLst>
              <a:ext uri="{FF2B5EF4-FFF2-40B4-BE49-F238E27FC236}">
                <a16:creationId xmlns:a16="http://schemas.microsoft.com/office/drawing/2014/main" id="{0949555E-A5A5-E451-D0CF-25F579AA1BB4}"/>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DBE4A215-CF0B-41D3-FEAA-97A979198FA5}"/>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10</a:t>
            </a:fld>
            <a:endParaRPr lang="en-US"/>
          </a:p>
        </p:txBody>
      </p:sp>
    </p:spTree>
    <p:extLst>
      <p:ext uri="{BB962C8B-B14F-4D97-AF65-F5344CB8AC3E}">
        <p14:creationId xmlns:p14="http://schemas.microsoft.com/office/powerpoint/2010/main" val="539521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E2EEE-C163-223A-BAAF-8B14D1BF5ACB}"/>
              </a:ext>
            </a:extLst>
          </p:cNvPr>
          <p:cNvSpPr>
            <a:spLocks noGrp="1"/>
          </p:cNvSpPr>
          <p:nvPr>
            <p:ph type="title"/>
          </p:nvPr>
        </p:nvSpPr>
        <p:spPr>
          <a:xfrm>
            <a:off x="1245108" y="786384"/>
            <a:ext cx="4023360" cy="1280160"/>
          </a:xfrm>
        </p:spPr>
        <p:txBody>
          <a:bodyPr anchor="t">
            <a:normAutofit/>
          </a:bodyPr>
          <a:lstStyle/>
          <a:p>
            <a:r>
              <a:rPr lang="en-US"/>
              <a:t>Core Features of UAMS</a:t>
            </a:r>
          </a:p>
        </p:txBody>
      </p:sp>
      <p:sp>
        <p:nvSpPr>
          <p:cNvPr id="3" name="Footer Placeholder 2">
            <a:extLst>
              <a:ext uri="{FF2B5EF4-FFF2-40B4-BE49-F238E27FC236}">
                <a16:creationId xmlns:a16="http://schemas.microsoft.com/office/drawing/2014/main" id="{2DA17CCB-E9D7-9437-D6B4-8148B128D293}"/>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Business report chart analysis tablet computer">
            <a:extLst>
              <a:ext uri="{FF2B5EF4-FFF2-40B4-BE49-F238E27FC236}">
                <a16:creationId xmlns:a16="http://schemas.microsoft.com/office/drawing/2014/main" id="{29B807C7-AC36-4ABF-8AD4-B866C3A7E74E}"/>
              </a:ext>
            </a:extLst>
          </p:cNvPr>
          <p:cNvPicPr>
            <a:picLocks noGrp="1" noChangeAspect="1"/>
          </p:cNvPicPr>
          <p:nvPr>
            <p:ph type="pic" sz="quarter" idx="13"/>
          </p:nvPr>
        </p:nvPicPr>
        <p:blipFill>
          <a:blip r:embed="rId3"/>
          <a:srcRect l="9166" r="6905" b="-1"/>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38DE5DCE-FB8C-BDAF-5A48-9ABB03B9D84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Centralized Compliance Dashboard</a:t>
            </a:r>
          </a:p>
          <a:p>
            <a:pPr marL="0" lvl="1" indent="0">
              <a:buFont typeface="Arial" panose="020B0604020202020204" pitchFamily="34" charset="0"/>
              <a:buNone/>
            </a:pPr>
            <a:r>
              <a:t>UAMS provides a unified dashboard to track compliance status and gain visibility across systems.</a:t>
            </a:r>
            <a:endParaRPr lang="en-US"/>
          </a:p>
          <a:p>
            <a:pPr marL="0" indent="0">
              <a:spcBef>
                <a:spcPts val="2500"/>
              </a:spcBef>
              <a:buFont typeface="Arial" panose="020B0604020202020204" pitchFamily="34" charset="0"/>
              <a:buNone/>
            </a:pPr>
            <a:r>
              <a:rPr lang="en-US" b="1"/>
              <a:t>Complete Audit Trails</a:t>
            </a:r>
          </a:p>
          <a:p>
            <a:pPr marL="0" lvl="1" indent="0">
              <a:buFont typeface="Arial" panose="020B0604020202020204" pitchFamily="34" charset="0"/>
              <a:buNone/>
            </a:pPr>
            <a:r>
              <a:t>Complete audit trails allow organizations to detect discrepancies and prepare efficiently for audits.</a:t>
            </a:r>
            <a:endParaRPr lang="en-US"/>
          </a:p>
          <a:p>
            <a:pPr marL="0" indent="0">
              <a:spcBef>
                <a:spcPts val="2500"/>
              </a:spcBef>
              <a:buFont typeface="Arial" panose="020B0604020202020204" pitchFamily="34" charset="0"/>
              <a:buNone/>
            </a:pPr>
            <a:r>
              <a:rPr lang="en-US" b="1"/>
              <a:t>Automated Alerts</a:t>
            </a:r>
          </a:p>
          <a:p>
            <a:pPr marL="0" lvl="1" indent="0">
              <a:buFont typeface="Arial" panose="020B0604020202020204" pitchFamily="34" charset="0"/>
              <a:buNone/>
            </a:pPr>
            <a:r>
              <a:t>Automated alerts notify users about password rotations and overdue reviews to enhance compliance readiness.</a:t>
            </a:r>
            <a:endParaRPr lang="en-US"/>
          </a:p>
          <a:p>
            <a:pPr marL="0" indent="0">
              <a:spcBef>
                <a:spcPts val="2500"/>
              </a:spcBef>
              <a:buFont typeface="Arial" panose="020B0604020202020204" pitchFamily="34" charset="0"/>
              <a:buNone/>
            </a:pPr>
            <a:r>
              <a:rPr lang="en-US" b="1"/>
              <a:t>Comprehensive Reporting</a:t>
            </a:r>
          </a:p>
          <a:p>
            <a:pPr marL="0" lvl="1" indent="0">
              <a:buFont typeface="Arial" panose="020B0604020202020204" pitchFamily="34" charset="0"/>
              <a:buNone/>
            </a:pPr>
            <a:r>
              <a:t>Reports can be exported in Excel, PDF, and CSV formats for easy sharing with auditors.</a:t>
            </a:r>
            <a:endParaRPr lang="en-US"/>
          </a:p>
        </p:txBody>
      </p:sp>
      <p:sp>
        <p:nvSpPr>
          <p:cNvPr id="6" name="Slide Number Placeholder 5">
            <a:extLst>
              <a:ext uri="{FF2B5EF4-FFF2-40B4-BE49-F238E27FC236}">
                <a16:creationId xmlns:a16="http://schemas.microsoft.com/office/drawing/2014/main" id="{06C12838-4B1A-E400-76F8-6EA918449360}"/>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Tree>
    <p:extLst>
      <p:ext uri="{BB962C8B-B14F-4D97-AF65-F5344CB8AC3E}">
        <p14:creationId xmlns:p14="http://schemas.microsoft.com/office/powerpoint/2010/main" val="2184320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79C0C-D9D9-105C-40F4-A9762F69ED8A}"/>
              </a:ext>
            </a:extLst>
          </p:cNvPr>
          <p:cNvSpPr>
            <a:spLocks noGrp="1"/>
          </p:cNvSpPr>
          <p:nvPr>
            <p:ph type="title"/>
          </p:nvPr>
        </p:nvSpPr>
        <p:spPr>
          <a:xfrm>
            <a:off x="1207008" y="786384"/>
            <a:ext cx="7772400" cy="914400"/>
          </a:xfrm>
        </p:spPr>
        <p:txBody>
          <a:bodyPr anchor="b">
            <a:normAutofit/>
          </a:bodyPr>
          <a:lstStyle/>
          <a:p>
            <a:r>
              <a:rPr lang="en-US"/>
              <a:t>Benefits for Stakeholders</a:t>
            </a:r>
          </a:p>
        </p:txBody>
      </p:sp>
      <p:sp>
        <p:nvSpPr>
          <p:cNvPr id="3" name="Footer Placeholder 2">
            <a:extLst>
              <a:ext uri="{FF2B5EF4-FFF2-40B4-BE49-F238E27FC236}">
                <a16:creationId xmlns:a16="http://schemas.microsoft.com/office/drawing/2014/main" id="{CA165EFE-DAAE-3A68-6E1E-1C6ED61C14BC}"/>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Content Placeholder 4">
            <a:extLst>
              <a:ext uri="{FF2B5EF4-FFF2-40B4-BE49-F238E27FC236}">
                <a16:creationId xmlns:a16="http://schemas.microsoft.com/office/drawing/2014/main" id="{1444B84A-8835-A4F4-5189-A02FC69C3E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07008" y="1828800"/>
            <a:ext cx="7772400" cy="4206240"/>
          </a:xfrm>
        </p:spPr>
        <p:txBody>
          <a:bodyPr>
            <a:normAutofit/>
          </a:bodyPr>
          <a:lstStyle/>
          <a:p>
            <a:pPr marL="0" indent="0">
              <a:spcBef>
                <a:spcPts val="2500"/>
              </a:spcBef>
              <a:buFont typeface="Arial" panose="020B0604020202020204" pitchFamily="34" charset="0"/>
              <a:buNone/>
            </a:pPr>
            <a:r>
              <a:rPr lang="en-US" b="1"/>
              <a:t>IT Administrator Efficiency</a:t>
            </a:r>
          </a:p>
          <a:p>
            <a:pPr marL="0" lvl="1" indent="0">
              <a:buFont typeface="Arial" panose="020B0604020202020204" pitchFamily="34" charset="0"/>
              <a:buNone/>
            </a:pPr>
            <a:r>
              <a:t>UAMS streamlines IT tasks with centralized tracking and automated alerts, saving administrators valuable time.</a:t>
            </a:r>
            <a:endParaRPr lang="en-US"/>
          </a:p>
          <a:p>
            <a:pPr marL="0" indent="0">
              <a:spcBef>
                <a:spcPts val="2500"/>
              </a:spcBef>
              <a:buFont typeface="Arial" panose="020B0604020202020204" pitchFamily="34" charset="0"/>
              <a:buNone/>
            </a:pPr>
            <a:r>
              <a:rPr lang="en-US" b="1"/>
              <a:t>Management Risk Reduction</a:t>
            </a:r>
          </a:p>
          <a:p>
            <a:pPr marL="0" lvl="1" indent="0">
              <a:buFont typeface="Arial" panose="020B0604020202020204" pitchFamily="34" charset="0"/>
              <a:buNone/>
            </a:pPr>
            <a:r>
              <a:t>Management experiences reduced security risks and benefits from simplified audit preparation processes.</a:t>
            </a:r>
            <a:endParaRPr lang="en-US"/>
          </a:p>
          <a:p>
            <a:pPr marL="0" indent="0">
              <a:spcBef>
                <a:spcPts val="2500"/>
              </a:spcBef>
              <a:buFont typeface="Arial" panose="020B0604020202020204" pitchFamily="34" charset="0"/>
              <a:buNone/>
            </a:pPr>
            <a:r>
              <a:rPr lang="en-US" b="1"/>
              <a:t>Auditor Access and Clarity</a:t>
            </a:r>
          </a:p>
          <a:p>
            <a:pPr marL="0" lvl="1" indent="0">
              <a:buFont typeface="Arial" panose="020B0604020202020204" pitchFamily="34" charset="0"/>
              <a:buNone/>
            </a:pPr>
            <a:r>
              <a:t>Auditors obtain clear, organized evidence and complete audit trails for comprehensive reviews.</a:t>
            </a:r>
            <a:endParaRPr lang="en-US"/>
          </a:p>
          <a:p>
            <a:pPr marL="0" indent="0">
              <a:spcBef>
                <a:spcPts val="2500"/>
              </a:spcBef>
              <a:buFont typeface="Arial" panose="020B0604020202020204" pitchFamily="34" charset="0"/>
              <a:buNone/>
            </a:pPr>
            <a:r>
              <a:rPr lang="en-US" b="1"/>
              <a:t>Organizational Security and Compliance</a:t>
            </a:r>
          </a:p>
          <a:p>
            <a:pPr marL="0" lvl="1" indent="0">
              <a:buFont typeface="Arial" panose="020B0604020202020204" pitchFamily="34" charset="0"/>
              <a:buNone/>
            </a:pPr>
            <a:r>
              <a:t>Organizations improve security posture, lower data breach risks, and maintain compliance confidence effectively.</a:t>
            </a:r>
            <a:endParaRPr lang="en-US"/>
          </a:p>
        </p:txBody>
      </p:sp>
      <p:pic>
        <p:nvPicPr>
          <p:cNvPr id="7" name="Content Placeholder 6" descr="Modern desktop computer in contemporary business office with statistics on the screen">
            <a:extLst>
              <a:ext uri="{FF2B5EF4-FFF2-40B4-BE49-F238E27FC236}">
                <a16:creationId xmlns:a16="http://schemas.microsoft.com/office/drawing/2014/main" id="{91AB1CDA-10C4-4751-9DFE-D3C28D97EF1D}"/>
              </a:ext>
            </a:extLst>
          </p:cNvPr>
          <p:cNvPicPr>
            <a:picLocks noGrp="1" noChangeAspect="1"/>
          </p:cNvPicPr>
          <p:nvPr>
            <p:ph type="pic" sz="quarter" idx="13"/>
          </p:nvPr>
        </p:nvPicPr>
        <p:blipFill>
          <a:blip r:embed="rId3"/>
          <a:srcRect l="38405" r="38604" b="-1"/>
          <a:stretch>
            <a:fillRect/>
          </a:stretch>
        </p:blipFill>
        <p:spPr>
          <a:xfrm>
            <a:off x="9287478" y="393289"/>
            <a:ext cx="2084255" cy="6051054"/>
          </a:xfrm>
          <a:prstGeom prst="rect">
            <a:avLst/>
          </a:prstGeom>
          <a:noFill/>
        </p:spPr>
      </p:pic>
      <p:sp>
        <p:nvSpPr>
          <p:cNvPr id="6" name="Slide Number Placeholder 5">
            <a:extLst>
              <a:ext uri="{FF2B5EF4-FFF2-40B4-BE49-F238E27FC236}">
                <a16:creationId xmlns:a16="http://schemas.microsoft.com/office/drawing/2014/main" id="{12AF35E5-BA26-CDD1-EF65-90F9744472EE}"/>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12</a:t>
            </a:fld>
            <a:endParaRPr lang="en-US"/>
          </a:p>
        </p:txBody>
      </p:sp>
    </p:spTree>
    <p:extLst>
      <p:ext uri="{BB962C8B-B14F-4D97-AF65-F5344CB8AC3E}">
        <p14:creationId xmlns:p14="http://schemas.microsoft.com/office/powerpoint/2010/main" val="2624435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A0B-6F01-F412-7BE0-CF1001B8D7B4}"/>
              </a:ext>
            </a:extLst>
          </p:cNvPr>
          <p:cNvSpPr>
            <a:spLocks noGrp="1"/>
          </p:cNvSpPr>
          <p:nvPr>
            <p:ph type="ctrTitle"/>
          </p:nvPr>
        </p:nvSpPr>
        <p:spPr>
          <a:xfrm>
            <a:off x="4130040" y="1645920"/>
            <a:ext cx="3931920" cy="3566160"/>
          </a:xfrm>
        </p:spPr>
        <p:txBody>
          <a:bodyPr anchor="ctr">
            <a:normAutofit/>
          </a:bodyPr>
          <a:lstStyle/>
          <a:p>
            <a:r>
              <a:rPr lang="en-US" sz="3500"/>
              <a:t>Implementation and Next Steps</a:t>
            </a:r>
          </a:p>
        </p:txBody>
      </p:sp>
      <p:sp>
        <p:nvSpPr>
          <p:cNvPr id="4" name="Footer Placeholder 3">
            <a:extLst>
              <a:ext uri="{FF2B5EF4-FFF2-40B4-BE49-F238E27FC236}">
                <a16:creationId xmlns:a16="http://schemas.microsoft.com/office/drawing/2014/main" id="{EAB79A4F-E7BE-2B80-9820-94C5C39846D6}"/>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8103D1D-25E1-59EA-0D62-1D529CADDB2B}"/>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13</a:t>
            </a:fld>
            <a:endParaRPr lang="en-US"/>
          </a:p>
        </p:txBody>
      </p:sp>
    </p:spTree>
    <p:extLst>
      <p:ext uri="{BB962C8B-B14F-4D97-AF65-F5344CB8AC3E}">
        <p14:creationId xmlns:p14="http://schemas.microsoft.com/office/powerpoint/2010/main" val="1388877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E133-BAD0-308D-357B-7D5F864C7ED8}"/>
              </a:ext>
            </a:extLst>
          </p:cNvPr>
          <p:cNvSpPr>
            <a:spLocks noGrp="1"/>
          </p:cNvSpPr>
          <p:nvPr>
            <p:ph type="title"/>
          </p:nvPr>
        </p:nvSpPr>
        <p:spPr>
          <a:xfrm>
            <a:off x="1066800" y="640080"/>
            <a:ext cx="10058400" cy="731518"/>
          </a:xfrm>
        </p:spPr>
        <p:txBody>
          <a:bodyPr anchor="t">
            <a:normAutofit/>
          </a:bodyPr>
          <a:lstStyle/>
          <a:p>
            <a:r>
              <a:rPr lang="en-US"/>
              <a:t>Getting Started with UAMS</a:t>
            </a:r>
          </a:p>
        </p:txBody>
      </p:sp>
      <p:sp>
        <p:nvSpPr>
          <p:cNvPr id="3" name="Footer Placeholder 2">
            <a:extLst>
              <a:ext uri="{FF2B5EF4-FFF2-40B4-BE49-F238E27FC236}">
                <a16:creationId xmlns:a16="http://schemas.microsoft.com/office/drawing/2014/main" id="{E069EF86-AB82-E09E-E9CC-85D55624734A}"/>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32ADF2E4-58B7-2632-A314-18CAF391E61D}"/>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14</a:t>
            </a:fld>
            <a:endParaRPr lang="en-US"/>
          </a:p>
        </p:txBody>
      </p:sp>
      <p:graphicFrame>
        <p:nvGraphicFramePr>
          <p:cNvPr id="6" name="Content Placeholder 5">
            <a:extLst>
              <a:ext uri="{FF2B5EF4-FFF2-40B4-BE49-F238E27FC236}">
                <a16:creationId xmlns:a16="http://schemas.microsoft.com/office/drawing/2014/main" id="{1A923042-BF28-45AD-B926-EE17385F7BF8}"/>
              </a:ext>
            </a:extLst>
          </p:cNvPr>
          <p:cNvGraphicFramePr>
            <a:graphicFrameLocks noGrp="1"/>
          </p:cNvGraphicFramePr>
          <p:nvPr>
            <p:ph idx="1"/>
            <p:extLst>
              <p:ext uri="{D42A27DB-BD31-4B8C-83A1-F6EECF244321}">
                <p14:modId xmlns:p14="http://schemas.microsoft.com/office/powerpoint/2010/main" val="210776949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66800" y="1463040"/>
          <a:ext cx="10058400" cy="4389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582500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08233-5CB7-97FB-3AE9-053F38E044F8}"/>
              </a:ext>
            </a:extLst>
          </p:cNvPr>
          <p:cNvSpPr>
            <a:spLocks noGrp="1"/>
          </p:cNvSpPr>
          <p:nvPr>
            <p:ph type="title"/>
          </p:nvPr>
        </p:nvSpPr>
        <p:spPr>
          <a:xfrm>
            <a:off x="1245108" y="786384"/>
            <a:ext cx="4023360" cy="1280160"/>
          </a:xfrm>
        </p:spPr>
        <p:txBody>
          <a:bodyPr anchor="t">
            <a:normAutofit/>
          </a:bodyPr>
          <a:lstStyle/>
          <a:p>
            <a:r>
              <a:rPr lang="en-US"/>
              <a:t>Roadmap for Optimization</a:t>
            </a:r>
          </a:p>
        </p:txBody>
      </p:sp>
      <p:sp>
        <p:nvSpPr>
          <p:cNvPr id="3" name="Footer Placeholder 2">
            <a:extLst>
              <a:ext uri="{FF2B5EF4-FFF2-40B4-BE49-F238E27FC236}">
                <a16:creationId xmlns:a16="http://schemas.microsoft.com/office/drawing/2014/main" id="{6B253516-3A34-F09E-5D4A-3C24A6FCACCD}"/>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Content Placeholder 6" descr="Growth and Development">
            <a:extLst>
              <a:ext uri="{FF2B5EF4-FFF2-40B4-BE49-F238E27FC236}">
                <a16:creationId xmlns:a16="http://schemas.microsoft.com/office/drawing/2014/main" id="{D2C9F659-0AA5-43FC-A9F6-11AB287C9435}"/>
              </a:ext>
            </a:extLst>
          </p:cNvPr>
          <p:cNvPicPr>
            <a:picLocks noGrp="1" noChangeAspect="1"/>
          </p:cNvPicPr>
          <p:nvPr>
            <p:ph type="pic" sz="quarter" idx="13"/>
          </p:nvPr>
        </p:nvPicPr>
        <p:blipFill>
          <a:blip r:embed="rId3"/>
          <a:srcRect l="23057" r="2526"/>
          <a:stretch>
            <a:fillRect/>
          </a:stretch>
        </p:blipFill>
        <p:spPr>
          <a:xfrm>
            <a:off x="1220455" y="2396086"/>
            <a:ext cx="4070907" cy="3637825"/>
          </a:xfrm>
          <a:prstGeom prst="rect">
            <a:avLst/>
          </a:prstGeom>
          <a:noFill/>
        </p:spPr>
      </p:pic>
      <p:sp>
        <p:nvSpPr>
          <p:cNvPr id="5" name="Content Placeholder 4">
            <a:extLst>
              <a:ext uri="{FF2B5EF4-FFF2-40B4-BE49-F238E27FC236}">
                <a16:creationId xmlns:a16="http://schemas.microsoft.com/office/drawing/2014/main" id="{F4B494F1-91A9-0CDB-211A-866E9D42364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69280" y="786384"/>
            <a:ext cx="5303520" cy="5303520"/>
          </a:xfrm>
        </p:spPr>
        <p:txBody>
          <a:bodyPr>
            <a:normAutofit/>
          </a:bodyPr>
          <a:lstStyle/>
          <a:p>
            <a:pPr marL="0" indent="0">
              <a:spcBef>
                <a:spcPts val="2500"/>
              </a:spcBef>
              <a:buFont typeface="Arial" panose="020B0604020202020204" pitchFamily="34" charset="0"/>
              <a:buNone/>
            </a:pPr>
            <a:r>
              <a:rPr lang="en-US" b="1"/>
              <a:t>Foundation Phase</a:t>
            </a:r>
          </a:p>
          <a:p>
            <a:pPr marL="0" lvl="1" indent="0">
              <a:buFont typeface="Arial" panose="020B0604020202020204" pitchFamily="34" charset="0"/>
              <a:buNone/>
            </a:pPr>
            <a:r>
              <a:t>This phase focuses on system installation and setting up the foundational infrastructure for optimization.</a:t>
            </a:r>
            <a:endParaRPr lang="en-US"/>
          </a:p>
          <a:p>
            <a:pPr marL="0" indent="0">
              <a:spcBef>
                <a:spcPts val="2500"/>
              </a:spcBef>
              <a:buFont typeface="Arial" panose="020B0604020202020204" pitchFamily="34" charset="0"/>
              <a:buNone/>
            </a:pPr>
            <a:r>
              <a:rPr lang="en-US" b="1"/>
              <a:t>Data Migration Phase</a:t>
            </a:r>
          </a:p>
          <a:p>
            <a:pPr marL="0" lvl="1" indent="0">
              <a:buFont typeface="Arial" panose="020B0604020202020204" pitchFamily="34" charset="0"/>
              <a:buNone/>
            </a:pPr>
            <a:r>
              <a:t>Data import and migration are carried out to transition existing information into the new system seamlessly.</a:t>
            </a:r>
            <a:endParaRPr lang="en-US"/>
          </a:p>
          <a:p>
            <a:pPr marL="0" indent="0">
              <a:spcBef>
                <a:spcPts val="2500"/>
              </a:spcBef>
              <a:buFont typeface="Arial" panose="020B0604020202020204" pitchFamily="34" charset="0"/>
              <a:buNone/>
            </a:pPr>
            <a:r>
              <a:rPr lang="en-US" b="1"/>
              <a:t>Integration Phase</a:t>
            </a:r>
          </a:p>
          <a:p>
            <a:pPr marL="0" lvl="1" indent="0">
              <a:buFont typeface="Arial" panose="020B0604020202020204" pitchFamily="34" charset="0"/>
              <a:buNone/>
            </a:pPr>
            <a:r>
              <a:t>This phase involves staff training, workflow integration, and configuring alerts to ensure smooth operations.</a:t>
            </a:r>
            <a:endParaRPr lang="en-US"/>
          </a:p>
          <a:p>
            <a:pPr marL="0" indent="0">
              <a:spcBef>
                <a:spcPts val="2500"/>
              </a:spcBef>
              <a:buFont typeface="Arial" panose="020B0604020202020204" pitchFamily="34" charset="0"/>
              <a:buNone/>
            </a:pPr>
            <a:r>
              <a:rPr lang="en-US" b="1"/>
              <a:t>Optimization Phase</a:t>
            </a:r>
          </a:p>
          <a:p>
            <a:pPr marL="0" lvl="1" indent="0">
              <a:buFont typeface="Arial" panose="020B0604020202020204" pitchFamily="34" charset="0"/>
              <a:buNone/>
            </a:pPr>
            <a:r>
              <a:t>Continuous refinement of processes, addition of integrations, and enhancement of reporting capabilities occur here.</a:t>
            </a:r>
            <a:endParaRPr lang="en-US"/>
          </a:p>
        </p:txBody>
      </p:sp>
      <p:sp>
        <p:nvSpPr>
          <p:cNvPr id="6" name="Slide Number Placeholder 5">
            <a:extLst>
              <a:ext uri="{FF2B5EF4-FFF2-40B4-BE49-F238E27FC236}">
                <a16:creationId xmlns:a16="http://schemas.microsoft.com/office/drawing/2014/main" id="{63A5E4B7-5D80-5971-4CDD-CD1FA7A30D89}"/>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15</a:t>
            </a:fld>
            <a:endParaRPr lang="en-US"/>
          </a:p>
        </p:txBody>
      </p:sp>
    </p:spTree>
    <p:extLst>
      <p:ext uri="{BB962C8B-B14F-4D97-AF65-F5344CB8AC3E}">
        <p14:creationId xmlns:p14="http://schemas.microsoft.com/office/powerpoint/2010/main" val="1511300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618</TotalTime>
  <Words>4</Words>
  <Application>Microsoft Office PowerPoint</Application>
  <PresentationFormat>Widescreen</PresentationFormat>
  <Paragraphs>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Circinate</vt:lpstr>
      <vt:lpstr>UAMS - PCI &amp; RHG Security Compliance</vt:lpstr>
      <vt:lpstr>Introduction to UAMS and Compliance</vt:lpstr>
      <vt:lpstr>Overview of UAMS</vt:lpstr>
      <vt:lpstr>Importance of PCI &amp; RHG Compliance</vt:lpstr>
      <vt:lpstr>Audit Requirements and Compliance</vt:lpstr>
      <vt:lpstr>The Seven RHG Audit Requirements</vt:lpstr>
      <vt:lpstr>Detailed Requirements</vt:lpstr>
      <vt:lpstr>Requirement 4.1: Unique User Accounts</vt:lpstr>
      <vt:lpstr>Requirement 4.2: Service Account Security</vt:lpstr>
      <vt:lpstr>Key Features and Benefits</vt:lpstr>
      <vt:lpstr>Core Features of UAMS</vt:lpstr>
      <vt:lpstr>Benefits for Stakeholders</vt:lpstr>
      <vt:lpstr>Implementation and Next Steps</vt:lpstr>
      <vt:lpstr>Getting Started with UAMS</vt:lpstr>
      <vt:lpstr>Roadmap for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2024-06-26T20:20:27Z</dcterms:created>
  <dcterms:modified xsi:type="dcterms:W3CDTF">2025-12-07T15:02:28Z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